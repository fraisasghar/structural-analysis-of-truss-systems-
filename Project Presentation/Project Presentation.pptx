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816324-6271-4F5D-A478-589900B5C8E1}" v="2" dt="2026-07-31T15:07:28.4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p:scale>
          <a:sx n="73" d="100"/>
          <a:sy n="73" d="100"/>
        </p:scale>
        <p:origin x="40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is Asghar" userId="deab302e-f256-4356-8467-dd493afb6511" providerId="ADAL" clId="{74FFE18B-3985-442E-B47D-F4AEAAAEFCA9}"/>
    <pc:docChg chg="modSld">
      <pc:chgData name="Frais Asghar" userId="deab302e-f256-4356-8467-dd493afb6511" providerId="ADAL" clId="{74FFE18B-3985-442E-B47D-F4AEAAAEFCA9}" dt="2026-07-31T15:09:31.418" v="2" actId="1076"/>
      <pc:docMkLst>
        <pc:docMk/>
      </pc:docMkLst>
      <pc:sldChg chg="modSp">
        <pc:chgData name="Frais Asghar" userId="deab302e-f256-4356-8467-dd493afb6511" providerId="ADAL" clId="{74FFE18B-3985-442E-B47D-F4AEAAAEFCA9}" dt="2026-07-31T15:07:28.457" v="1" actId="403"/>
        <pc:sldMkLst>
          <pc:docMk/>
          <pc:sldMk cId="0" sldId="264"/>
        </pc:sldMkLst>
        <pc:spChg chg="mod">
          <ac:chgData name="Frais Asghar" userId="deab302e-f256-4356-8467-dd493afb6511" providerId="ADAL" clId="{74FFE18B-3985-442E-B47D-F4AEAAAEFCA9}" dt="2026-07-31T15:07:28.457" v="1" actId="403"/>
          <ac:spMkLst>
            <pc:docMk/>
            <pc:sldMk cId="0" sldId="264"/>
            <ac:spMk id="2" creationId="{00000000-0000-0000-0000-000000000000}"/>
          </ac:spMkLst>
        </pc:spChg>
        <pc:spChg chg="mod">
          <ac:chgData name="Frais Asghar" userId="deab302e-f256-4356-8467-dd493afb6511" providerId="ADAL" clId="{74FFE18B-3985-442E-B47D-F4AEAAAEFCA9}" dt="2026-07-31T15:07:28.457" v="1" actId="403"/>
          <ac:spMkLst>
            <pc:docMk/>
            <pc:sldMk cId="0" sldId="264"/>
            <ac:spMk id="3" creationId="{00000000-0000-0000-0000-000000000000}"/>
          </ac:spMkLst>
        </pc:spChg>
        <pc:spChg chg="mod">
          <ac:chgData name="Frais Asghar" userId="deab302e-f256-4356-8467-dd493afb6511" providerId="ADAL" clId="{74FFE18B-3985-442E-B47D-F4AEAAAEFCA9}" dt="2026-07-31T15:07:28.457" v="1" actId="403"/>
          <ac:spMkLst>
            <pc:docMk/>
            <pc:sldMk cId="0" sldId="264"/>
            <ac:spMk id="4" creationId="{00000000-0000-0000-0000-000000000000}"/>
          </ac:spMkLst>
        </pc:spChg>
        <pc:spChg chg="mod">
          <ac:chgData name="Frais Asghar" userId="deab302e-f256-4356-8467-dd493afb6511" providerId="ADAL" clId="{74FFE18B-3985-442E-B47D-F4AEAAAEFCA9}" dt="2026-07-31T15:07:28.457" v="1" actId="403"/>
          <ac:spMkLst>
            <pc:docMk/>
            <pc:sldMk cId="0" sldId="264"/>
            <ac:spMk id="6" creationId="{00000000-0000-0000-0000-000000000000}"/>
          </ac:spMkLst>
        </pc:spChg>
        <pc:spChg chg="mod">
          <ac:chgData name="Frais Asghar" userId="deab302e-f256-4356-8467-dd493afb6511" providerId="ADAL" clId="{74FFE18B-3985-442E-B47D-F4AEAAAEFCA9}" dt="2026-07-31T15:07:28.457" v="1" actId="403"/>
          <ac:spMkLst>
            <pc:docMk/>
            <pc:sldMk cId="0" sldId="264"/>
            <ac:spMk id="8" creationId="{00000000-0000-0000-0000-000000000000}"/>
          </ac:spMkLst>
        </pc:spChg>
        <pc:spChg chg="mod">
          <ac:chgData name="Frais Asghar" userId="deab302e-f256-4356-8467-dd493afb6511" providerId="ADAL" clId="{74FFE18B-3985-442E-B47D-F4AEAAAEFCA9}" dt="2026-07-31T15:07:28.457" v="1" actId="403"/>
          <ac:spMkLst>
            <pc:docMk/>
            <pc:sldMk cId="0" sldId="264"/>
            <ac:spMk id="9" creationId="{00000000-0000-0000-0000-000000000000}"/>
          </ac:spMkLst>
        </pc:spChg>
        <pc:graphicFrameChg chg="mod">
          <ac:chgData name="Frais Asghar" userId="deab302e-f256-4356-8467-dd493afb6511" providerId="ADAL" clId="{74FFE18B-3985-442E-B47D-F4AEAAAEFCA9}" dt="2026-07-31T15:07:28.457" v="1" actId="403"/>
          <ac:graphicFrameMkLst>
            <pc:docMk/>
            <pc:sldMk cId="0" sldId="264"/>
            <ac:graphicFrameMk id="5" creationId="{00000000-0000-0000-0000-000000000000}"/>
          </ac:graphicFrameMkLst>
        </pc:graphicFrameChg>
        <pc:graphicFrameChg chg="mod">
          <ac:chgData name="Frais Asghar" userId="deab302e-f256-4356-8467-dd493afb6511" providerId="ADAL" clId="{74FFE18B-3985-442E-B47D-F4AEAAAEFCA9}" dt="2026-07-31T15:07:28.457" v="1" actId="403"/>
          <ac:graphicFrameMkLst>
            <pc:docMk/>
            <pc:sldMk cId="0" sldId="264"/>
            <ac:graphicFrameMk id="7" creationId="{00000000-0000-0000-0000-000000000000}"/>
          </ac:graphicFrameMkLst>
        </pc:graphicFrameChg>
      </pc:sldChg>
      <pc:sldChg chg="modSp mod">
        <pc:chgData name="Frais Asghar" userId="deab302e-f256-4356-8467-dd493afb6511" providerId="ADAL" clId="{74FFE18B-3985-442E-B47D-F4AEAAAEFCA9}" dt="2026-07-31T15:09:31.418" v="2" actId="1076"/>
        <pc:sldMkLst>
          <pc:docMk/>
          <pc:sldMk cId="0" sldId="266"/>
        </pc:sldMkLst>
        <pc:spChg chg="mod">
          <ac:chgData name="Frais Asghar" userId="deab302e-f256-4356-8467-dd493afb6511" providerId="ADAL" clId="{74FFE18B-3985-442E-B47D-F4AEAAAEFCA9}" dt="2026-07-31T15:09:31.418" v="2" actId="1076"/>
          <ac:spMkLst>
            <pc:docMk/>
            <pc:sldMk cId="0" sldId="266"/>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External Forces</c:v>
                </c:pt>
              </c:strCache>
            </c:strRef>
          </c:tx>
          <c:spPr>
            <a:solidFill>
              <a:srgbClr val="5B7B9C"/>
            </a:solidFill>
            <a:effectLst/>
          </c:spPr>
          <c:invertIfNegative val="0"/>
          <c:dLbls>
            <c:numFmt formatCode="#,##0" sourceLinked="0"/>
            <c:spPr>
              <a:noFill/>
              <a:ln>
                <a:noFill/>
              </a:ln>
              <a:effectLst/>
            </c:spPr>
            <c:txPr>
              <a:bodyPr/>
              <a:lstStyle/>
              <a:p>
                <a:pPr>
                  <a:defRPr sz="1100" b="0" i="0" u="none" strike="noStrike">
                    <a:solidFill>
                      <a:srgbClr val="1823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R_Ay</c:v>
                </c:pt>
                <c:pt idx="1">
                  <c:v>R_Cx</c:v>
                </c:pt>
                <c:pt idx="2">
                  <c:v>R_Cy</c:v>
                </c:pt>
              </c:strCache>
            </c:strRef>
          </c:cat>
          <c:val>
            <c:numRef>
              <c:f>Sheet1!$B$2:$B$4</c:f>
              <c:numCache>
                <c:formatCode>General</c:formatCode>
                <c:ptCount val="3"/>
                <c:pt idx="0">
                  <c:v>150</c:v>
                </c:pt>
                <c:pt idx="1">
                  <c:v>300</c:v>
                </c:pt>
                <c:pt idx="2">
                  <c:v>150</c:v>
                </c:pt>
              </c:numCache>
            </c:numRef>
          </c:val>
          <c:extLst>
            <c:ext xmlns:c16="http://schemas.microsoft.com/office/drawing/2014/chart" uri="{C3380CC4-5D6E-409C-BE32-E72D297353CC}">
              <c16:uniqueId val="{00000000-1F77-4AE0-9B3A-248EF2496BA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5556E"/>
                </a:solidFill>
                <a:latin typeface="Arial"/>
              </a:defRPr>
            </a:pPr>
            <a:endParaRPr lang="en-US"/>
          </a:p>
        </c:txPr>
        <c:crossAx val="2094734552"/>
        <c:crosses val="autoZero"/>
        <c:auto val="1"/>
        <c:lblAlgn val="ctr"/>
        <c:lblOffset val="100"/>
        <c:noMultiLvlLbl val="1"/>
      </c:catAx>
      <c:valAx>
        <c:axId val="2094734552"/>
        <c:scaling>
          <c:orientation val="minMax"/>
          <c:max val="350"/>
          <c:min val="0"/>
        </c:scaling>
        <c:delete val="0"/>
        <c:axPos val="l"/>
        <c:majorGridlines>
          <c:spPr>
            <a:ln w="12700"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5556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Internal Forces</c:v>
                </c:pt>
              </c:strCache>
            </c:strRef>
          </c:tx>
          <c:spPr>
            <a:solidFill>
              <a:srgbClr val="E8912D"/>
            </a:solidFill>
            <a:effectLst/>
          </c:spPr>
          <c:invertIfNegative val="0"/>
          <c:dLbls>
            <c:numFmt formatCode="#,##0" sourceLinked="0"/>
            <c:spPr>
              <a:noFill/>
              <a:ln>
                <a:noFill/>
              </a:ln>
              <a:effectLst/>
            </c:spPr>
            <c:txPr>
              <a:bodyPr/>
              <a:lstStyle/>
              <a:p>
                <a:pPr>
                  <a:defRPr sz="1100" b="0" i="0" u="none" strike="noStrike">
                    <a:solidFill>
                      <a:srgbClr val="1823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F_AB</c:v>
                </c:pt>
                <c:pt idx="1">
                  <c:v>F_AD</c:v>
                </c:pt>
                <c:pt idx="2">
                  <c:v>F_BC</c:v>
                </c:pt>
                <c:pt idx="3">
                  <c:v>F_BD</c:v>
                </c:pt>
                <c:pt idx="4">
                  <c:v>F_CD</c:v>
                </c:pt>
              </c:strCache>
            </c:strRef>
          </c:cat>
          <c:val>
            <c:numRef>
              <c:f>Sheet1!$B$2:$B$6</c:f>
              <c:numCache>
                <c:formatCode>General</c:formatCode>
                <c:ptCount val="5"/>
                <c:pt idx="0">
                  <c:v>150</c:v>
                </c:pt>
                <c:pt idx="1">
                  <c:v>212.13</c:v>
                </c:pt>
                <c:pt idx="2">
                  <c:v>150</c:v>
                </c:pt>
                <c:pt idx="3">
                  <c:v>0</c:v>
                </c:pt>
                <c:pt idx="4">
                  <c:v>212.13</c:v>
                </c:pt>
              </c:numCache>
            </c:numRef>
          </c:val>
          <c:extLst>
            <c:ext xmlns:c16="http://schemas.microsoft.com/office/drawing/2014/chart" uri="{C3380CC4-5D6E-409C-BE32-E72D297353CC}">
              <c16:uniqueId val="{00000000-7CA9-49C4-9062-A48DEC9CE874}"/>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5556E"/>
                </a:solidFill>
                <a:latin typeface="Arial"/>
              </a:defRPr>
            </a:pPr>
            <a:endParaRPr lang="en-US"/>
          </a:p>
        </c:txPr>
        <c:crossAx val="2094734552"/>
        <c:crosses val="autoZero"/>
        <c:auto val="1"/>
        <c:lblAlgn val="ctr"/>
        <c:lblOffset val="100"/>
        <c:noMultiLvlLbl val="1"/>
      </c:catAx>
      <c:valAx>
        <c:axId val="2094734552"/>
        <c:scaling>
          <c:orientation val="minMax"/>
          <c:max val="250"/>
          <c:min val="0"/>
        </c:scaling>
        <c:delete val="0"/>
        <c:axPos val="l"/>
        <c:majorGridlines>
          <c:spPr>
            <a:ln w="12700"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5556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9228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33C"/>
        </a:solid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22335A"/>
          </a:solidFill>
          <a:ln/>
        </p:spPr>
        <p:txBody>
          <a:bodyPr/>
          <a:lstStyle/>
          <a:p>
            <a:endParaRPr lang="en-US"/>
          </a:p>
        </p:txBody>
      </p:sp>
      <p:sp>
        <p:nvSpPr>
          <p:cNvPr id="3" name="Shape 1"/>
          <p:cNvSpPr/>
          <p:nvPr/>
        </p:nvSpPr>
        <p:spPr>
          <a:xfrm>
            <a:off x="7863840" y="0"/>
            <a:ext cx="0" cy="6858000"/>
          </a:xfrm>
          <a:prstGeom prst="line">
            <a:avLst/>
          </a:prstGeom>
          <a:noFill/>
          <a:ln w="9525">
            <a:solidFill>
              <a:srgbClr val="5B7B9C"/>
            </a:solidFill>
            <a:prstDash val="solid"/>
          </a:ln>
        </p:spPr>
        <p:txBody>
          <a:bodyPr/>
          <a:lstStyle/>
          <a:p>
            <a:endParaRPr lang="en-US"/>
          </a:p>
        </p:txBody>
      </p:sp>
      <p:sp>
        <p:nvSpPr>
          <p:cNvPr id="4" name="Shape 2"/>
          <p:cNvSpPr/>
          <p:nvPr/>
        </p:nvSpPr>
        <p:spPr>
          <a:xfrm>
            <a:off x="8778240" y="3200400"/>
            <a:ext cx="2377440" cy="0"/>
          </a:xfrm>
          <a:prstGeom prst="line">
            <a:avLst/>
          </a:prstGeom>
          <a:noFill/>
          <a:ln w="25400">
            <a:solidFill>
              <a:srgbClr val="E8912D"/>
            </a:solidFill>
            <a:prstDash val="solid"/>
          </a:ln>
        </p:spPr>
        <p:txBody>
          <a:bodyPr/>
          <a:lstStyle/>
          <a:p>
            <a:endParaRPr lang="en-US"/>
          </a:p>
        </p:txBody>
      </p:sp>
      <p:sp>
        <p:nvSpPr>
          <p:cNvPr id="5" name="Shape 3"/>
          <p:cNvSpPr/>
          <p:nvPr/>
        </p:nvSpPr>
        <p:spPr>
          <a:xfrm>
            <a:off x="8778240" y="3200400"/>
            <a:ext cx="1188720" cy="0"/>
          </a:xfrm>
          <a:prstGeom prst="line">
            <a:avLst/>
          </a:prstGeom>
          <a:noFill/>
          <a:ln w="25400">
            <a:solidFill>
              <a:srgbClr val="AFC3D6"/>
            </a:solidFill>
            <a:prstDash val="solid"/>
          </a:ln>
        </p:spPr>
        <p:txBody>
          <a:bodyPr/>
          <a:lstStyle/>
          <a:p>
            <a:endParaRPr lang="en-US"/>
          </a:p>
        </p:txBody>
      </p:sp>
      <p:sp>
        <p:nvSpPr>
          <p:cNvPr id="6" name="Shape 4"/>
          <p:cNvSpPr/>
          <p:nvPr/>
        </p:nvSpPr>
        <p:spPr>
          <a:xfrm>
            <a:off x="9966960" y="1828800"/>
            <a:ext cx="1188720" cy="1371600"/>
          </a:xfrm>
          <a:prstGeom prst="line">
            <a:avLst/>
          </a:prstGeom>
          <a:noFill/>
          <a:ln w="25400">
            <a:solidFill>
              <a:srgbClr val="AFC3D6"/>
            </a:solidFill>
            <a:prstDash val="solid"/>
          </a:ln>
        </p:spPr>
        <p:txBody>
          <a:bodyPr/>
          <a:lstStyle/>
          <a:p>
            <a:endParaRPr lang="en-US"/>
          </a:p>
        </p:txBody>
      </p:sp>
      <p:sp>
        <p:nvSpPr>
          <p:cNvPr id="7" name="Shape 5"/>
          <p:cNvSpPr/>
          <p:nvPr/>
        </p:nvSpPr>
        <p:spPr>
          <a:xfrm>
            <a:off x="9966960" y="1828800"/>
            <a:ext cx="0" cy="1371600"/>
          </a:xfrm>
          <a:prstGeom prst="line">
            <a:avLst/>
          </a:prstGeom>
          <a:noFill/>
          <a:ln w="19050">
            <a:solidFill>
              <a:srgbClr val="AFC3D6"/>
            </a:solidFill>
            <a:prstDash val="dash"/>
          </a:ln>
        </p:spPr>
        <p:txBody>
          <a:bodyPr/>
          <a:lstStyle/>
          <a:p>
            <a:endParaRPr lang="en-US"/>
          </a:p>
        </p:txBody>
      </p:sp>
      <p:sp>
        <p:nvSpPr>
          <p:cNvPr id="8" name="Shape 6"/>
          <p:cNvSpPr/>
          <p:nvPr/>
        </p:nvSpPr>
        <p:spPr>
          <a:xfrm>
            <a:off x="8723376" y="3145536"/>
            <a:ext cx="109728" cy="109728"/>
          </a:xfrm>
          <a:prstGeom prst="ellipse">
            <a:avLst/>
          </a:prstGeom>
          <a:solidFill>
            <a:srgbClr val="E8912D"/>
          </a:solidFill>
          <a:ln w="12700">
            <a:solidFill>
              <a:srgbClr val="E8912D"/>
            </a:solidFill>
            <a:prstDash val="solid"/>
          </a:ln>
        </p:spPr>
        <p:txBody>
          <a:bodyPr/>
          <a:lstStyle/>
          <a:p>
            <a:endParaRPr lang="en-US"/>
          </a:p>
        </p:txBody>
      </p:sp>
      <p:sp>
        <p:nvSpPr>
          <p:cNvPr id="9" name="Shape 7"/>
          <p:cNvSpPr/>
          <p:nvPr/>
        </p:nvSpPr>
        <p:spPr>
          <a:xfrm>
            <a:off x="9912096" y="3145536"/>
            <a:ext cx="109728" cy="109728"/>
          </a:xfrm>
          <a:prstGeom prst="ellipse">
            <a:avLst/>
          </a:prstGeom>
          <a:solidFill>
            <a:srgbClr val="E8912D"/>
          </a:solidFill>
          <a:ln w="12700">
            <a:solidFill>
              <a:srgbClr val="E8912D"/>
            </a:solidFill>
            <a:prstDash val="solid"/>
          </a:ln>
        </p:spPr>
        <p:txBody>
          <a:bodyPr/>
          <a:lstStyle/>
          <a:p>
            <a:endParaRPr lang="en-US"/>
          </a:p>
        </p:txBody>
      </p:sp>
      <p:sp>
        <p:nvSpPr>
          <p:cNvPr id="10" name="Shape 8"/>
          <p:cNvSpPr/>
          <p:nvPr/>
        </p:nvSpPr>
        <p:spPr>
          <a:xfrm>
            <a:off x="11100816" y="3145536"/>
            <a:ext cx="109728" cy="109728"/>
          </a:xfrm>
          <a:prstGeom prst="ellipse">
            <a:avLst/>
          </a:prstGeom>
          <a:solidFill>
            <a:srgbClr val="E8912D"/>
          </a:solidFill>
          <a:ln w="12700">
            <a:solidFill>
              <a:srgbClr val="E8912D"/>
            </a:solidFill>
            <a:prstDash val="solid"/>
          </a:ln>
        </p:spPr>
        <p:txBody>
          <a:bodyPr/>
          <a:lstStyle/>
          <a:p>
            <a:endParaRPr lang="en-US"/>
          </a:p>
        </p:txBody>
      </p:sp>
      <p:sp>
        <p:nvSpPr>
          <p:cNvPr id="11" name="Text 9"/>
          <p:cNvSpPr/>
          <p:nvPr/>
        </p:nvSpPr>
        <p:spPr>
          <a:xfrm>
            <a:off x="640080" y="2148840"/>
            <a:ext cx="6949440" cy="365760"/>
          </a:xfrm>
          <a:prstGeom prst="rect">
            <a:avLst/>
          </a:prstGeom>
          <a:noFill/>
          <a:ln/>
        </p:spPr>
        <p:txBody>
          <a:bodyPr wrap="square" rtlCol="0" anchor="ctr"/>
          <a:lstStyle/>
          <a:p>
            <a:pPr marL="0" indent="0">
              <a:buNone/>
            </a:pPr>
            <a:r>
              <a:rPr lang="en-US" sz="2000" b="1" kern="0" spc="200" dirty="0">
                <a:solidFill>
                  <a:srgbClr val="E8912D"/>
                </a:solidFill>
                <a:latin typeface="Calibri" pitchFamily="34" charset="0"/>
                <a:ea typeface="Calibri" pitchFamily="34" charset="-122"/>
                <a:cs typeface="Calibri" pitchFamily="34" charset="-120"/>
              </a:rPr>
              <a:t>STRUCTURAL ENGINEERING LAB REPORT</a:t>
            </a:r>
            <a:endParaRPr lang="en-US" sz="2000" dirty="0"/>
          </a:p>
        </p:txBody>
      </p:sp>
      <p:sp>
        <p:nvSpPr>
          <p:cNvPr id="12" name="Text 10"/>
          <p:cNvSpPr/>
          <p:nvPr/>
        </p:nvSpPr>
        <p:spPr>
          <a:xfrm>
            <a:off x="640080" y="2514600"/>
            <a:ext cx="704088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Analysis of Truss Structures</a:t>
            </a:r>
            <a:endParaRPr lang="en-US" sz="4000" dirty="0"/>
          </a:p>
        </p:txBody>
      </p:sp>
      <p:sp>
        <p:nvSpPr>
          <p:cNvPr id="13" name="Text 11"/>
          <p:cNvSpPr/>
          <p:nvPr/>
        </p:nvSpPr>
        <p:spPr>
          <a:xfrm>
            <a:off x="640080" y="3337560"/>
            <a:ext cx="7040880" cy="548640"/>
          </a:xfrm>
          <a:prstGeom prst="rect">
            <a:avLst/>
          </a:prstGeom>
          <a:noFill/>
          <a:ln/>
        </p:spPr>
        <p:txBody>
          <a:bodyPr wrap="square" rtlCol="0" anchor="ctr"/>
          <a:lstStyle/>
          <a:p>
            <a:pPr marL="0" indent="0">
              <a:buNone/>
            </a:pPr>
            <a:r>
              <a:rPr lang="en-US" sz="1800" i="1" dirty="0">
                <a:solidFill>
                  <a:srgbClr val="AFC3D6"/>
                </a:solidFill>
                <a:latin typeface="Calibri" pitchFamily="34" charset="0"/>
                <a:ea typeface="Calibri" pitchFamily="34" charset="-122"/>
                <a:cs typeface="Calibri" pitchFamily="34" charset="-120"/>
              </a:rPr>
              <a:t>Manual Calculation vs ANSYS Simulation Approach</a:t>
            </a:r>
            <a:endParaRPr lang="en-US" sz="1800" dirty="0"/>
          </a:p>
        </p:txBody>
      </p:sp>
      <p:sp>
        <p:nvSpPr>
          <p:cNvPr id="14" name="Shape 12"/>
          <p:cNvSpPr/>
          <p:nvPr/>
        </p:nvSpPr>
        <p:spPr>
          <a:xfrm>
            <a:off x="658368" y="4114800"/>
            <a:ext cx="2011680" cy="0"/>
          </a:xfrm>
          <a:prstGeom prst="line">
            <a:avLst/>
          </a:prstGeom>
          <a:noFill/>
          <a:ln w="12700">
            <a:solidFill>
              <a:srgbClr val="5B7B9C"/>
            </a:solidFill>
            <a:prstDash val="solid"/>
          </a:ln>
        </p:spPr>
        <p:txBody>
          <a:bodyPr/>
          <a:lstStyle/>
          <a:p>
            <a:endParaRPr lang="en-US"/>
          </a:p>
        </p:txBody>
      </p:sp>
      <p:sp>
        <p:nvSpPr>
          <p:cNvPr id="15" name="Text 13"/>
          <p:cNvSpPr/>
          <p:nvPr/>
        </p:nvSpPr>
        <p:spPr>
          <a:xfrm>
            <a:off x="658368" y="4343400"/>
            <a:ext cx="6858000" cy="1463040"/>
          </a:xfrm>
          <a:prstGeom prst="rect">
            <a:avLst/>
          </a:prstGeom>
          <a:noFill/>
          <a:ln/>
        </p:spPr>
        <p:txBody>
          <a:bodyPr wrap="square" rtlCol="0" anchor="ctr"/>
          <a:lstStyle/>
          <a:p>
            <a:pPr marL="0" indent="0">
              <a:lnSpc>
                <a:spcPts val="2200"/>
              </a:lnSpc>
              <a:buNone/>
            </a:pPr>
            <a:r>
              <a:rPr lang="en-US" sz="1600" b="1" dirty="0">
                <a:solidFill>
                  <a:srgbClr val="FFFFFF"/>
                </a:solidFill>
                <a:latin typeface="Calibri" pitchFamily="34" charset="0"/>
                <a:ea typeface="Calibri" pitchFamily="34" charset="-122"/>
                <a:cs typeface="Calibri" pitchFamily="34" charset="-120"/>
              </a:rPr>
              <a:t>Frais Asghar
</a:t>
            </a:r>
            <a:r>
              <a:rPr lang="en-US" sz="1200" dirty="0">
                <a:solidFill>
                  <a:srgbClr val="AFC3D6"/>
                </a:solidFill>
                <a:latin typeface="Calibri" pitchFamily="34" charset="0"/>
                <a:ea typeface="Calibri" pitchFamily="34" charset="-122"/>
                <a:cs typeface="Calibri" pitchFamily="34" charset="-120"/>
              </a:rPr>
              <a:t>School of Mechanical &amp; Manufacturing Engineering (SMME)
National University of Sciences &amp; Technology (NUST)
May 2025</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lgn="just">
              <a:buNone/>
            </a:pPr>
            <a:r>
              <a:rPr lang="en-US" sz="3200" b="1" dirty="0">
                <a:solidFill>
                  <a:srgbClr val="18233C"/>
                </a:solidFill>
                <a:latin typeface="Cambria" pitchFamily="34" charset="0"/>
                <a:ea typeface="Cambria" pitchFamily="34" charset="-122"/>
                <a:cs typeface="Cambria" pitchFamily="34" charset="-120"/>
              </a:rPr>
              <a:t>Project Overview</a:t>
            </a:r>
            <a:endParaRPr lang="en-US" sz="3200" dirty="0"/>
          </a:p>
        </p:txBody>
      </p:sp>
      <p:sp>
        <p:nvSpPr>
          <p:cNvPr id="3" name="Text 1"/>
          <p:cNvSpPr/>
          <p:nvPr/>
        </p:nvSpPr>
        <p:spPr>
          <a:xfrm>
            <a:off x="548640" y="896112"/>
            <a:ext cx="11091672" cy="320040"/>
          </a:xfrm>
          <a:prstGeom prst="rect">
            <a:avLst/>
          </a:prstGeom>
          <a:noFill/>
          <a:ln/>
        </p:spPr>
        <p:txBody>
          <a:bodyPr wrap="square" rtlCol="0" anchor="ctr"/>
          <a:lstStyle/>
          <a:p>
            <a:pPr marL="0" indent="0" algn="just">
              <a:buNone/>
            </a:pPr>
            <a:r>
              <a:rPr lang="en-US" sz="1400" i="1" dirty="0">
                <a:solidFill>
                  <a:srgbClr val="5B7B9C"/>
                </a:solidFill>
                <a:latin typeface="Calibri" pitchFamily="34" charset="0"/>
                <a:ea typeface="Calibri" pitchFamily="34" charset="-122"/>
                <a:cs typeface="Calibri" pitchFamily="34" charset="-120"/>
              </a:rPr>
              <a:t>What this lab set out to do, and how it was verified</a:t>
            </a:r>
            <a:endParaRPr lang="en-US" sz="1400" dirty="0"/>
          </a:p>
        </p:txBody>
      </p:sp>
      <p:sp>
        <p:nvSpPr>
          <p:cNvPr id="4" name="Shape 2"/>
          <p:cNvSpPr/>
          <p:nvPr/>
        </p:nvSpPr>
        <p:spPr>
          <a:xfrm>
            <a:off x="548640" y="1600200"/>
            <a:ext cx="3429000" cy="3017520"/>
          </a:xfrm>
          <a:prstGeom prst="roundRect">
            <a:avLst>
              <a:gd name="adj" fmla="val 2424"/>
            </a:avLst>
          </a:prstGeom>
          <a:ln/>
        </p:spPr>
        <p:style>
          <a:lnRef idx="1">
            <a:schemeClr val="accent1"/>
          </a:lnRef>
          <a:fillRef idx="2">
            <a:schemeClr val="accent1"/>
          </a:fillRef>
          <a:effectRef idx="1">
            <a:schemeClr val="accent1"/>
          </a:effectRef>
          <a:fontRef idx="minor">
            <a:schemeClr val="dk1"/>
          </a:fontRef>
        </p:style>
        <p:txBody>
          <a:bodyPr/>
          <a:lstStyle/>
          <a:p>
            <a:pPr algn="just"/>
            <a:endParaRPr lang="en-US" sz="2400"/>
          </a:p>
        </p:txBody>
      </p:sp>
      <p:sp>
        <p:nvSpPr>
          <p:cNvPr id="5" name="Shape 3"/>
          <p:cNvSpPr/>
          <p:nvPr/>
        </p:nvSpPr>
        <p:spPr>
          <a:xfrm>
            <a:off x="822960" y="1874520"/>
            <a:ext cx="548640" cy="548640"/>
          </a:xfrm>
          <a:prstGeom prst="ellipse">
            <a:avLst/>
          </a:prstGeom>
          <a:solidFill>
            <a:srgbClr val="18233C"/>
          </a:solidFill>
          <a:ln w="12700">
            <a:solidFill>
              <a:srgbClr val="18233C"/>
            </a:solidFill>
            <a:prstDash val="solid"/>
          </a:ln>
        </p:spPr>
        <p:txBody>
          <a:bodyPr/>
          <a:lstStyle/>
          <a:p>
            <a:pPr algn="just"/>
            <a:endParaRPr lang="en-US" sz="2400"/>
          </a:p>
        </p:txBody>
      </p:sp>
      <p:sp>
        <p:nvSpPr>
          <p:cNvPr id="6" name="Text 4"/>
          <p:cNvSpPr/>
          <p:nvPr/>
        </p:nvSpPr>
        <p:spPr>
          <a:xfrm>
            <a:off x="822960" y="1874520"/>
            <a:ext cx="548640" cy="548640"/>
          </a:xfrm>
          <a:prstGeom prst="rect">
            <a:avLst/>
          </a:prstGeom>
          <a:noFill/>
          <a:ln/>
        </p:spPr>
        <p:txBody>
          <a:bodyPr wrap="square" rtlCol="0" anchor="ctr"/>
          <a:lstStyle/>
          <a:p>
            <a:pPr marL="0" indent="0" algn="just">
              <a:buNone/>
            </a:pPr>
            <a:r>
              <a:rPr lang="en-US" sz="2800" b="1" dirty="0">
                <a:solidFill>
                  <a:srgbClr val="E8912D"/>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822960" y="2606040"/>
            <a:ext cx="2880360" cy="365760"/>
          </a:xfrm>
          <a:prstGeom prst="rect">
            <a:avLst/>
          </a:prstGeom>
          <a:noFill/>
          <a:ln/>
        </p:spPr>
        <p:txBody>
          <a:bodyPr wrap="square" rtlCol="0" anchor="ctr"/>
          <a:lstStyle/>
          <a:p>
            <a:pPr marL="0" indent="0" algn="just">
              <a:buNone/>
            </a:pPr>
            <a:r>
              <a:rPr lang="en-US" sz="2400" b="1" dirty="0">
                <a:solidFill>
                  <a:srgbClr val="18233C"/>
                </a:solidFill>
                <a:latin typeface="Cambria" pitchFamily="34" charset="0"/>
                <a:ea typeface="Cambria" pitchFamily="34" charset="-122"/>
                <a:cs typeface="Cambria" pitchFamily="34" charset="-120"/>
              </a:rPr>
              <a:t>Design</a:t>
            </a:r>
            <a:endParaRPr lang="en-US" sz="2400" dirty="0"/>
          </a:p>
        </p:txBody>
      </p:sp>
      <p:sp>
        <p:nvSpPr>
          <p:cNvPr id="8" name="Text 6"/>
          <p:cNvSpPr/>
          <p:nvPr/>
        </p:nvSpPr>
        <p:spPr>
          <a:xfrm>
            <a:off x="822960" y="3017520"/>
            <a:ext cx="2880360" cy="1463040"/>
          </a:xfrm>
          <a:prstGeom prst="rect">
            <a:avLst/>
          </a:prstGeom>
          <a:noFill/>
          <a:ln/>
        </p:spPr>
        <p:txBody>
          <a:bodyPr wrap="square" rtlCol="0" anchor="ctr"/>
          <a:lstStyle/>
          <a:p>
            <a:pPr marL="0" indent="0" algn="just">
              <a:lnSpc>
                <a:spcPct val="115000"/>
              </a:lnSpc>
              <a:buNone/>
            </a:pPr>
            <a:r>
              <a:rPr lang="en-US" sz="1600" dirty="0">
                <a:solidFill>
                  <a:srgbClr val="45556E"/>
                </a:solidFill>
                <a:latin typeface="Calibri" pitchFamily="34" charset="0"/>
                <a:ea typeface="Calibri" pitchFamily="34" charset="-122"/>
                <a:cs typeface="Calibri" pitchFamily="34" charset="-120"/>
              </a:rPr>
              <a:t>Built a 2D truss with 4 joints (A, B, C, D) and 5 members, supported by a roller at A and a pin at C.</a:t>
            </a:r>
            <a:endParaRPr lang="en-US" sz="1600" dirty="0"/>
          </a:p>
        </p:txBody>
      </p:sp>
      <p:sp>
        <p:nvSpPr>
          <p:cNvPr id="9" name="Shape 7"/>
          <p:cNvSpPr/>
          <p:nvPr/>
        </p:nvSpPr>
        <p:spPr>
          <a:xfrm>
            <a:off x="4297680" y="1600200"/>
            <a:ext cx="3429000" cy="3017520"/>
          </a:xfrm>
          <a:prstGeom prst="roundRect">
            <a:avLst>
              <a:gd name="adj" fmla="val 2424"/>
            </a:avLst>
          </a:prstGeom>
          <a:ln/>
        </p:spPr>
        <p:style>
          <a:lnRef idx="1">
            <a:schemeClr val="accent2"/>
          </a:lnRef>
          <a:fillRef idx="2">
            <a:schemeClr val="accent2"/>
          </a:fillRef>
          <a:effectRef idx="1">
            <a:schemeClr val="accent2"/>
          </a:effectRef>
          <a:fontRef idx="minor">
            <a:schemeClr val="dk1"/>
          </a:fontRef>
        </p:style>
        <p:txBody>
          <a:bodyPr/>
          <a:lstStyle/>
          <a:p>
            <a:pPr algn="just"/>
            <a:endParaRPr lang="en-US" sz="2400"/>
          </a:p>
        </p:txBody>
      </p:sp>
      <p:sp>
        <p:nvSpPr>
          <p:cNvPr id="10" name="Shape 8"/>
          <p:cNvSpPr/>
          <p:nvPr/>
        </p:nvSpPr>
        <p:spPr>
          <a:xfrm>
            <a:off x="4572000" y="1874520"/>
            <a:ext cx="548640" cy="548640"/>
          </a:xfrm>
          <a:prstGeom prst="ellipse">
            <a:avLst/>
          </a:prstGeom>
          <a:solidFill>
            <a:srgbClr val="18233C"/>
          </a:solidFill>
          <a:ln w="12700">
            <a:solidFill>
              <a:srgbClr val="18233C"/>
            </a:solidFill>
            <a:prstDash val="solid"/>
          </a:ln>
        </p:spPr>
        <p:txBody>
          <a:bodyPr/>
          <a:lstStyle/>
          <a:p>
            <a:pPr algn="just"/>
            <a:endParaRPr lang="en-US" sz="2400"/>
          </a:p>
        </p:txBody>
      </p:sp>
      <p:sp>
        <p:nvSpPr>
          <p:cNvPr id="11" name="Text 9"/>
          <p:cNvSpPr/>
          <p:nvPr/>
        </p:nvSpPr>
        <p:spPr>
          <a:xfrm>
            <a:off x="4572000" y="1874520"/>
            <a:ext cx="548640" cy="548640"/>
          </a:xfrm>
          <a:prstGeom prst="rect">
            <a:avLst/>
          </a:prstGeom>
          <a:noFill/>
          <a:ln/>
        </p:spPr>
        <p:txBody>
          <a:bodyPr wrap="square" rtlCol="0" anchor="ctr"/>
          <a:lstStyle/>
          <a:p>
            <a:pPr marL="0" indent="0" algn="just">
              <a:buNone/>
            </a:pPr>
            <a:r>
              <a:rPr lang="en-US" sz="2800" b="1" dirty="0">
                <a:solidFill>
                  <a:srgbClr val="E8912D"/>
                </a:solidFill>
                <a:latin typeface="Cambria" pitchFamily="34" charset="0"/>
                <a:ea typeface="Cambria" pitchFamily="34" charset="-122"/>
                <a:cs typeface="Cambria" pitchFamily="34" charset="-120"/>
              </a:rPr>
              <a:t>2</a:t>
            </a:r>
            <a:endParaRPr lang="en-US" sz="2800" dirty="0"/>
          </a:p>
        </p:txBody>
      </p:sp>
      <p:sp>
        <p:nvSpPr>
          <p:cNvPr id="12" name="Text 10"/>
          <p:cNvSpPr/>
          <p:nvPr/>
        </p:nvSpPr>
        <p:spPr>
          <a:xfrm>
            <a:off x="4572000" y="2606040"/>
            <a:ext cx="2880360" cy="365760"/>
          </a:xfrm>
          <a:prstGeom prst="rect">
            <a:avLst/>
          </a:prstGeom>
          <a:noFill/>
          <a:ln/>
        </p:spPr>
        <p:txBody>
          <a:bodyPr wrap="square" rtlCol="0" anchor="ctr"/>
          <a:lstStyle/>
          <a:p>
            <a:pPr marL="0" indent="0" algn="just">
              <a:buNone/>
            </a:pPr>
            <a:r>
              <a:rPr lang="en-US" sz="2400" b="1" dirty="0">
                <a:solidFill>
                  <a:srgbClr val="18233C"/>
                </a:solidFill>
                <a:latin typeface="Cambria" pitchFamily="34" charset="0"/>
                <a:ea typeface="Cambria" pitchFamily="34" charset="-122"/>
                <a:cs typeface="Cambria" pitchFamily="34" charset="-120"/>
              </a:rPr>
              <a:t>Solve</a:t>
            </a:r>
            <a:endParaRPr lang="en-US" sz="2400" dirty="0"/>
          </a:p>
        </p:txBody>
      </p:sp>
      <p:sp>
        <p:nvSpPr>
          <p:cNvPr id="13" name="Text 11"/>
          <p:cNvSpPr/>
          <p:nvPr/>
        </p:nvSpPr>
        <p:spPr>
          <a:xfrm>
            <a:off x="4572000" y="3017520"/>
            <a:ext cx="2880360" cy="1463040"/>
          </a:xfrm>
          <a:prstGeom prst="rect">
            <a:avLst/>
          </a:prstGeom>
          <a:noFill/>
          <a:ln/>
        </p:spPr>
        <p:txBody>
          <a:bodyPr wrap="square" rtlCol="0" anchor="ctr"/>
          <a:lstStyle/>
          <a:p>
            <a:pPr marL="0" indent="0" algn="just">
              <a:lnSpc>
                <a:spcPct val="115000"/>
              </a:lnSpc>
              <a:buNone/>
            </a:pPr>
            <a:r>
              <a:rPr lang="en-US" sz="1600" dirty="0">
                <a:solidFill>
                  <a:srgbClr val="45556E"/>
                </a:solidFill>
                <a:latin typeface="Calibri" pitchFamily="34" charset="0"/>
                <a:ea typeface="Calibri" pitchFamily="34" charset="-122"/>
                <a:cs typeface="Calibri" pitchFamily="34" charset="-120"/>
              </a:rPr>
              <a:t>Applied the Method of Joints to compute reaction forces and internal member forces under a 300 N horizontal load.</a:t>
            </a:r>
            <a:endParaRPr lang="en-US" sz="1600" dirty="0"/>
          </a:p>
        </p:txBody>
      </p:sp>
      <p:sp>
        <p:nvSpPr>
          <p:cNvPr id="14" name="Shape 12"/>
          <p:cNvSpPr/>
          <p:nvPr/>
        </p:nvSpPr>
        <p:spPr>
          <a:xfrm>
            <a:off x="8046720" y="1600200"/>
            <a:ext cx="3429000" cy="3017520"/>
          </a:xfrm>
          <a:prstGeom prst="roundRect">
            <a:avLst>
              <a:gd name="adj" fmla="val 2424"/>
            </a:avLst>
          </a:prstGeom>
          <a:ln/>
        </p:spPr>
        <p:style>
          <a:lnRef idx="1">
            <a:schemeClr val="accent6"/>
          </a:lnRef>
          <a:fillRef idx="2">
            <a:schemeClr val="accent6"/>
          </a:fillRef>
          <a:effectRef idx="1">
            <a:schemeClr val="accent6"/>
          </a:effectRef>
          <a:fontRef idx="minor">
            <a:schemeClr val="dk1"/>
          </a:fontRef>
        </p:style>
        <p:txBody>
          <a:bodyPr/>
          <a:lstStyle/>
          <a:p>
            <a:pPr algn="just"/>
            <a:endParaRPr lang="en-US" sz="2400"/>
          </a:p>
        </p:txBody>
      </p:sp>
      <p:sp>
        <p:nvSpPr>
          <p:cNvPr id="15" name="Shape 13"/>
          <p:cNvSpPr/>
          <p:nvPr/>
        </p:nvSpPr>
        <p:spPr>
          <a:xfrm>
            <a:off x="8321040" y="1874520"/>
            <a:ext cx="548640" cy="548640"/>
          </a:xfrm>
          <a:prstGeom prst="ellipse">
            <a:avLst/>
          </a:prstGeom>
          <a:solidFill>
            <a:srgbClr val="18233C"/>
          </a:solidFill>
          <a:ln w="12700">
            <a:solidFill>
              <a:srgbClr val="18233C"/>
            </a:solidFill>
            <a:prstDash val="solid"/>
          </a:ln>
        </p:spPr>
        <p:txBody>
          <a:bodyPr/>
          <a:lstStyle/>
          <a:p>
            <a:pPr algn="just"/>
            <a:endParaRPr lang="en-US" sz="2400"/>
          </a:p>
        </p:txBody>
      </p:sp>
      <p:sp>
        <p:nvSpPr>
          <p:cNvPr id="16" name="Text 14"/>
          <p:cNvSpPr/>
          <p:nvPr/>
        </p:nvSpPr>
        <p:spPr>
          <a:xfrm>
            <a:off x="8321040" y="1874520"/>
            <a:ext cx="548640" cy="548640"/>
          </a:xfrm>
          <a:prstGeom prst="rect">
            <a:avLst/>
          </a:prstGeom>
          <a:noFill/>
          <a:ln/>
        </p:spPr>
        <p:txBody>
          <a:bodyPr wrap="square" rtlCol="0" anchor="ctr"/>
          <a:lstStyle/>
          <a:p>
            <a:pPr marL="0" indent="0" algn="just">
              <a:buNone/>
            </a:pPr>
            <a:r>
              <a:rPr lang="en-US" sz="2800" b="1" dirty="0">
                <a:solidFill>
                  <a:srgbClr val="E8912D"/>
                </a:solidFill>
                <a:latin typeface="Cambria" pitchFamily="34" charset="0"/>
                <a:ea typeface="Cambria" pitchFamily="34" charset="-122"/>
                <a:cs typeface="Cambria" pitchFamily="34" charset="-120"/>
              </a:rPr>
              <a:t>3</a:t>
            </a:r>
            <a:endParaRPr lang="en-US" sz="2800" dirty="0"/>
          </a:p>
        </p:txBody>
      </p:sp>
      <p:sp>
        <p:nvSpPr>
          <p:cNvPr id="17" name="Text 15"/>
          <p:cNvSpPr/>
          <p:nvPr/>
        </p:nvSpPr>
        <p:spPr>
          <a:xfrm>
            <a:off x="8321040" y="2606040"/>
            <a:ext cx="2880360" cy="365760"/>
          </a:xfrm>
          <a:prstGeom prst="rect">
            <a:avLst/>
          </a:prstGeom>
          <a:noFill/>
          <a:ln/>
        </p:spPr>
        <p:txBody>
          <a:bodyPr wrap="square" rtlCol="0" anchor="ctr"/>
          <a:lstStyle/>
          <a:p>
            <a:pPr marL="0" indent="0" algn="just">
              <a:buNone/>
            </a:pPr>
            <a:r>
              <a:rPr lang="en-US" sz="2400" b="1" dirty="0">
                <a:solidFill>
                  <a:srgbClr val="18233C"/>
                </a:solidFill>
                <a:latin typeface="Cambria" pitchFamily="34" charset="0"/>
                <a:ea typeface="Cambria" pitchFamily="34" charset="-122"/>
                <a:cs typeface="Cambria" pitchFamily="34" charset="-120"/>
              </a:rPr>
              <a:t>Verify</a:t>
            </a:r>
            <a:endParaRPr lang="en-US" sz="2400" dirty="0"/>
          </a:p>
        </p:txBody>
      </p:sp>
      <p:sp>
        <p:nvSpPr>
          <p:cNvPr id="18" name="Text 16"/>
          <p:cNvSpPr/>
          <p:nvPr/>
        </p:nvSpPr>
        <p:spPr>
          <a:xfrm>
            <a:off x="8321040" y="3017520"/>
            <a:ext cx="2880360" cy="1463040"/>
          </a:xfrm>
          <a:prstGeom prst="rect">
            <a:avLst/>
          </a:prstGeom>
          <a:noFill/>
          <a:ln/>
        </p:spPr>
        <p:txBody>
          <a:bodyPr wrap="square" rtlCol="0" anchor="ctr"/>
          <a:lstStyle/>
          <a:p>
            <a:pPr marL="0" indent="0" algn="just">
              <a:lnSpc>
                <a:spcPct val="115000"/>
              </a:lnSpc>
              <a:buNone/>
            </a:pPr>
            <a:r>
              <a:rPr lang="en-US" sz="1600" dirty="0">
                <a:solidFill>
                  <a:srgbClr val="45556E"/>
                </a:solidFill>
                <a:latin typeface="Calibri" pitchFamily="34" charset="0"/>
                <a:ea typeface="Calibri" pitchFamily="34" charset="-122"/>
                <a:cs typeface="Calibri" pitchFamily="34" charset="-120"/>
              </a:rPr>
              <a:t>Rebuilt the same truss in ANSYS Workbench and compared simulated axial forces against hand calculations.</a:t>
            </a:r>
            <a:endParaRPr lang="en-US" sz="1600" dirty="0"/>
          </a:p>
        </p:txBody>
      </p:sp>
      <p:sp>
        <p:nvSpPr>
          <p:cNvPr id="19" name="Shape 17"/>
          <p:cNvSpPr/>
          <p:nvPr/>
        </p:nvSpPr>
        <p:spPr>
          <a:xfrm>
            <a:off x="548640" y="4892040"/>
            <a:ext cx="11091672" cy="1005840"/>
          </a:xfrm>
          <a:prstGeom prst="roundRect">
            <a:avLst>
              <a:gd name="adj" fmla="val 5455"/>
            </a:avLst>
          </a:prstGeom>
          <a:solidFill>
            <a:srgbClr val="18233C"/>
          </a:solidFill>
          <a:ln w="12700">
            <a:solidFill>
              <a:srgbClr val="18233C"/>
            </a:solidFill>
            <a:prstDash val="solid"/>
          </a:ln>
        </p:spPr>
        <p:txBody>
          <a:bodyPr/>
          <a:lstStyle/>
          <a:p>
            <a:pPr algn="just"/>
            <a:endParaRPr lang="en-US" sz="2400"/>
          </a:p>
        </p:txBody>
      </p:sp>
      <p:sp>
        <p:nvSpPr>
          <p:cNvPr id="20" name="Text 18"/>
          <p:cNvSpPr/>
          <p:nvPr/>
        </p:nvSpPr>
        <p:spPr>
          <a:xfrm>
            <a:off x="822960" y="4892040"/>
            <a:ext cx="10515600" cy="1005840"/>
          </a:xfrm>
          <a:prstGeom prst="rect">
            <a:avLst/>
          </a:prstGeom>
          <a:noFill/>
          <a:ln/>
        </p:spPr>
        <p:txBody>
          <a:bodyPr wrap="square" rtlCol="0" anchor="ctr"/>
          <a:lstStyle/>
          <a:p>
            <a:pPr marL="0" indent="0" algn="just">
              <a:buNone/>
            </a:pPr>
            <a:r>
              <a:rPr lang="en-US" sz="1600" b="1" dirty="0">
                <a:solidFill>
                  <a:srgbClr val="E8912D"/>
                </a:solidFill>
                <a:latin typeface="Calibri" pitchFamily="34" charset="0"/>
                <a:ea typeface="Calibri" pitchFamily="34" charset="-122"/>
                <a:cs typeface="Calibri" pitchFamily="34" charset="-120"/>
              </a:rPr>
              <a:t>Result:  </a:t>
            </a:r>
            <a:r>
              <a:rPr lang="en-US" sz="1600" dirty="0">
                <a:solidFill>
                  <a:srgbClr val="FFFFFF"/>
                </a:solidFill>
                <a:latin typeface="Calibri" pitchFamily="34" charset="0"/>
                <a:ea typeface="Calibri" pitchFamily="34" charset="-122"/>
                <a:cs typeface="Calibri" pitchFamily="34" charset="-120"/>
              </a:rPr>
              <a:t>Manual calculations and ANSYS simulation matched almost exactly (max axial force 212.13 N in both), confirming the accuracy of the analysis.</a:t>
            </a:r>
            <a:endParaRPr lang="en-US" sz="1600" dirty="0"/>
          </a:p>
        </p:txBody>
      </p:sp>
      <p:sp>
        <p:nvSpPr>
          <p:cNvPr id="21" name="Text 19"/>
          <p:cNvSpPr/>
          <p:nvPr/>
        </p:nvSpPr>
        <p:spPr>
          <a:xfrm>
            <a:off x="457200" y="6473952"/>
            <a:ext cx="5486400" cy="274320"/>
          </a:xfrm>
          <a:prstGeom prst="rect">
            <a:avLst/>
          </a:prstGeom>
          <a:noFill/>
          <a:ln/>
        </p:spPr>
        <p:txBody>
          <a:bodyPr wrap="square" rtlCol="0" anchor="ctr"/>
          <a:lstStyle/>
          <a:p>
            <a:pPr marL="0" indent="0" algn="just">
              <a:buNone/>
            </a:pPr>
            <a:r>
              <a:rPr lang="en-US" sz="1050" dirty="0">
                <a:solidFill>
                  <a:srgbClr val="45556E"/>
                </a:solidFill>
                <a:latin typeface="Calibri" pitchFamily="34" charset="0"/>
                <a:ea typeface="Calibri" pitchFamily="34" charset="-122"/>
                <a:cs typeface="Calibri" pitchFamily="34" charset="-120"/>
              </a:rPr>
              <a:t>Frais Asghar  |  NUST · SMME</a:t>
            </a:r>
            <a:endParaRPr lang="en-US" sz="105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just">
              <a:buNone/>
            </a:pPr>
            <a:r>
              <a:rPr lang="en-US" sz="1050" dirty="0">
                <a:solidFill>
                  <a:srgbClr val="45556E"/>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buNone/>
            </a:pPr>
            <a:r>
              <a:rPr lang="en-US" sz="3200" b="1" dirty="0">
                <a:solidFill>
                  <a:srgbClr val="18233C"/>
                </a:solidFill>
                <a:latin typeface="Cambria" pitchFamily="34" charset="0"/>
                <a:ea typeface="Cambria" pitchFamily="34" charset="-122"/>
                <a:cs typeface="Cambria" pitchFamily="34" charset="-120"/>
              </a:rPr>
              <a:t>Truss Theory &amp; Assumptions</a:t>
            </a:r>
            <a:endParaRPr lang="en-US" sz="3200" dirty="0"/>
          </a:p>
        </p:txBody>
      </p:sp>
      <p:sp>
        <p:nvSpPr>
          <p:cNvPr id="3" name="Text 1"/>
          <p:cNvSpPr/>
          <p:nvPr/>
        </p:nvSpPr>
        <p:spPr>
          <a:xfrm>
            <a:off x="548640" y="896112"/>
            <a:ext cx="11091672" cy="320040"/>
          </a:xfrm>
          <a:prstGeom prst="rect">
            <a:avLst/>
          </a:prstGeom>
          <a:noFill/>
          <a:ln/>
        </p:spPr>
        <p:txBody>
          <a:bodyPr wrap="square" rtlCol="0" anchor="ctr"/>
          <a:lstStyle/>
          <a:p>
            <a:pPr marL="0" indent="0">
              <a:buNone/>
            </a:pPr>
            <a:r>
              <a:rPr lang="en-US" sz="1400" i="1" dirty="0">
                <a:solidFill>
                  <a:srgbClr val="5B7B9C"/>
                </a:solidFill>
                <a:latin typeface="Calibri" pitchFamily="34" charset="0"/>
                <a:ea typeface="Calibri" pitchFamily="34" charset="-122"/>
                <a:cs typeface="Calibri" pitchFamily="34" charset="-120"/>
              </a:rPr>
              <a:t>Foundational concepts behind the analysis</a:t>
            </a:r>
            <a:endParaRPr lang="en-US" sz="1400" dirty="0"/>
          </a:p>
        </p:txBody>
      </p:sp>
      <p:sp>
        <p:nvSpPr>
          <p:cNvPr id="4" name="Text 2"/>
          <p:cNvSpPr/>
          <p:nvPr/>
        </p:nvSpPr>
        <p:spPr>
          <a:xfrm>
            <a:off x="548640" y="1554480"/>
            <a:ext cx="11064240" cy="822960"/>
          </a:xfrm>
          <a:prstGeom prst="rect">
            <a:avLst/>
          </a:prstGeom>
          <a:noFill/>
          <a:ln/>
        </p:spPr>
        <p:txBody>
          <a:bodyPr wrap="square" rtlCol="0" anchor="ctr"/>
          <a:lstStyle/>
          <a:p>
            <a:pPr marL="0" indent="0" algn="just">
              <a:lnSpc>
                <a:spcPct val="120000"/>
              </a:lnSpc>
              <a:buNone/>
            </a:pPr>
            <a:r>
              <a:rPr lang="en-US" dirty="0">
                <a:solidFill>
                  <a:srgbClr val="45556E"/>
                </a:solidFill>
                <a:latin typeface="Calibri" pitchFamily="34" charset="0"/>
                <a:ea typeface="Calibri" pitchFamily="34" charset="-122"/>
                <a:cs typeface="Calibri" pitchFamily="34" charset="-120"/>
              </a:rPr>
              <a:t>A truss is a rigid structure built from straight members pinned together at joints, used in bridges, roofs, and towers to carry loads efficiently. </a:t>
            </a:r>
            <a:r>
              <a:rPr lang="en-US" b="1" dirty="0">
                <a:solidFill>
                  <a:srgbClr val="18233C"/>
                </a:solidFill>
                <a:latin typeface="Calibri" pitchFamily="34" charset="0"/>
                <a:ea typeface="Calibri" pitchFamily="34" charset="-122"/>
                <a:cs typeface="Calibri" pitchFamily="34" charset="-120"/>
              </a:rPr>
              <a:t>The Method of Joints</a:t>
            </a:r>
            <a:r>
              <a:rPr lang="en-US" dirty="0">
                <a:solidFill>
                  <a:srgbClr val="45556E"/>
                </a:solidFill>
                <a:latin typeface="Calibri" pitchFamily="34" charset="0"/>
                <a:ea typeface="Calibri" pitchFamily="34" charset="-122"/>
                <a:cs typeface="Calibri" pitchFamily="34" charset="-120"/>
              </a:rPr>
              <a:t> analyzes equilibrium (ΣFx = 0, ΣFy = 0) at every joint to find each member's internal force.</a:t>
            </a:r>
            <a:endParaRPr lang="en-US" dirty="0"/>
          </a:p>
        </p:txBody>
      </p:sp>
      <p:sp>
        <p:nvSpPr>
          <p:cNvPr id="5" name="Shape 3"/>
          <p:cNvSpPr/>
          <p:nvPr/>
        </p:nvSpPr>
        <p:spPr>
          <a:xfrm>
            <a:off x="548640" y="2606040"/>
            <a:ext cx="11091672" cy="685800"/>
          </a:xfrm>
          <a:prstGeom prst="roundRect">
            <a:avLst>
              <a:gd name="adj" fmla="val 8000"/>
            </a:avLst>
          </a:prstGeom>
          <a:ln/>
        </p:spPr>
        <p:style>
          <a:lnRef idx="1">
            <a:schemeClr val="dk1"/>
          </a:lnRef>
          <a:fillRef idx="2">
            <a:schemeClr val="dk1"/>
          </a:fillRef>
          <a:effectRef idx="1">
            <a:schemeClr val="dk1"/>
          </a:effectRef>
          <a:fontRef idx="minor">
            <a:schemeClr val="dk1"/>
          </a:fontRef>
        </p:style>
        <p:txBody>
          <a:bodyPr/>
          <a:lstStyle/>
          <a:p>
            <a:pPr algn="just"/>
            <a:endParaRPr lang="en-US" sz="4000"/>
          </a:p>
        </p:txBody>
      </p:sp>
      <p:sp>
        <p:nvSpPr>
          <p:cNvPr id="6" name="Shape 4"/>
          <p:cNvSpPr/>
          <p:nvPr/>
        </p:nvSpPr>
        <p:spPr>
          <a:xfrm>
            <a:off x="777240" y="2724912"/>
            <a:ext cx="457200" cy="457200"/>
          </a:xfrm>
          <a:prstGeom prst="ellipse">
            <a:avLst/>
          </a:prstGeom>
          <a:solidFill>
            <a:srgbClr val="AFC3D6"/>
          </a:solidFill>
          <a:ln w="12700">
            <a:solidFill>
              <a:srgbClr val="5B7B9C"/>
            </a:solidFill>
            <a:prstDash val="solid"/>
          </a:ln>
        </p:spPr>
        <p:txBody>
          <a:bodyPr/>
          <a:lstStyle/>
          <a:p>
            <a:pPr algn="just"/>
            <a:endParaRPr lang="en-US" sz="2400"/>
          </a:p>
        </p:txBody>
      </p:sp>
      <p:sp>
        <p:nvSpPr>
          <p:cNvPr id="7" name="Text 5"/>
          <p:cNvSpPr/>
          <p:nvPr/>
        </p:nvSpPr>
        <p:spPr>
          <a:xfrm>
            <a:off x="777240" y="2724912"/>
            <a:ext cx="457200" cy="457200"/>
          </a:xfrm>
          <a:prstGeom prst="rect">
            <a:avLst/>
          </a:prstGeom>
          <a:noFill/>
          <a:ln/>
        </p:spPr>
        <p:txBody>
          <a:bodyPr wrap="square" rtlCol="0" anchor="ctr"/>
          <a:lstStyle/>
          <a:p>
            <a:pPr marL="0" indent="0" algn="just">
              <a:buNone/>
            </a:pPr>
            <a:r>
              <a:rPr lang="en-US" sz="2000" b="1" dirty="0">
                <a:solidFill>
                  <a:srgbClr val="18233C"/>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417320" y="2606040"/>
            <a:ext cx="9966960" cy="685800"/>
          </a:xfrm>
          <a:prstGeom prst="rect">
            <a:avLst/>
          </a:prstGeom>
          <a:noFill/>
          <a:ln/>
        </p:spPr>
        <p:txBody>
          <a:bodyPr wrap="square" rtlCol="0" anchor="ctr"/>
          <a:lstStyle/>
          <a:p>
            <a:pPr marL="0" indent="0" algn="just">
              <a:buNone/>
            </a:pPr>
            <a:r>
              <a:rPr lang="en-US" dirty="0">
                <a:solidFill>
                  <a:srgbClr val="18233C"/>
                </a:solidFill>
                <a:latin typeface="Calibri" pitchFamily="34" charset="0"/>
                <a:ea typeface="Calibri" pitchFamily="34" charset="-122"/>
                <a:cs typeface="Calibri" pitchFamily="34" charset="-120"/>
              </a:rPr>
              <a:t>All members are connected by frictionless pins at their ends</a:t>
            </a:r>
            <a:endParaRPr lang="en-US" dirty="0"/>
          </a:p>
        </p:txBody>
      </p:sp>
      <p:sp>
        <p:nvSpPr>
          <p:cNvPr id="9" name="Shape 7"/>
          <p:cNvSpPr/>
          <p:nvPr/>
        </p:nvSpPr>
        <p:spPr>
          <a:xfrm>
            <a:off x="548640" y="3474720"/>
            <a:ext cx="11091672" cy="685800"/>
          </a:xfrm>
          <a:prstGeom prst="roundRect">
            <a:avLst>
              <a:gd name="adj" fmla="val 8000"/>
            </a:avLst>
          </a:prstGeom>
          <a:ln/>
        </p:spPr>
        <p:style>
          <a:lnRef idx="1">
            <a:schemeClr val="accent4"/>
          </a:lnRef>
          <a:fillRef idx="2">
            <a:schemeClr val="accent4"/>
          </a:fillRef>
          <a:effectRef idx="1">
            <a:schemeClr val="accent4"/>
          </a:effectRef>
          <a:fontRef idx="minor">
            <a:schemeClr val="dk1"/>
          </a:fontRef>
        </p:style>
        <p:txBody>
          <a:bodyPr/>
          <a:lstStyle/>
          <a:p>
            <a:pPr algn="just"/>
            <a:endParaRPr lang="en-US" sz="4000"/>
          </a:p>
        </p:txBody>
      </p:sp>
      <p:sp>
        <p:nvSpPr>
          <p:cNvPr id="10" name="Shape 8"/>
          <p:cNvSpPr/>
          <p:nvPr/>
        </p:nvSpPr>
        <p:spPr>
          <a:xfrm>
            <a:off x="777240" y="3593592"/>
            <a:ext cx="457200" cy="457200"/>
          </a:xfrm>
          <a:prstGeom prst="ellipse">
            <a:avLst/>
          </a:prstGeom>
          <a:solidFill>
            <a:srgbClr val="AFC3D6"/>
          </a:solidFill>
          <a:ln w="12700">
            <a:solidFill>
              <a:srgbClr val="5B7B9C"/>
            </a:solidFill>
            <a:prstDash val="solid"/>
          </a:ln>
        </p:spPr>
        <p:txBody>
          <a:bodyPr/>
          <a:lstStyle/>
          <a:p>
            <a:pPr algn="just"/>
            <a:endParaRPr lang="en-US" sz="2400"/>
          </a:p>
        </p:txBody>
      </p:sp>
      <p:sp>
        <p:nvSpPr>
          <p:cNvPr id="11" name="Text 9"/>
          <p:cNvSpPr/>
          <p:nvPr/>
        </p:nvSpPr>
        <p:spPr>
          <a:xfrm>
            <a:off x="777240" y="3593592"/>
            <a:ext cx="457200" cy="457200"/>
          </a:xfrm>
          <a:prstGeom prst="rect">
            <a:avLst/>
          </a:prstGeom>
          <a:noFill/>
          <a:ln/>
        </p:spPr>
        <p:txBody>
          <a:bodyPr wrap="square" rtlCol="0" anchor="ctr"/>
          <a:lstStyle/>
          <a:p>
            <a:pPr marL="0" indent="0" algn="just">
              <a:buNone/>
            </a:pPr>
            <a:r>
              <a:rPr lang="en-US" sz="2000" b="1" dirty="0">
                <a:solidFill>
                  <a:srgbClr val="18233C"/>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417320" y="3474720"/>
            <a:ext cx="9966960" cy="685800"/>
          </a:xfrm>
          <a:prstGeom prst="rect">
            <a:avLst/>
          </a:prstGeom>
          <a:noFill/>
          <a:ln/>
        </p:spPr>
        <p:txBody>
          <a:bodyPr wrap="square" rtlCol="0" anchor="ctr"/>
          <a:lstStyle/>
          <a:p>
            <a:pPr marL="0" indent="0" algn="just">
              <a:buNone/>
            </a:pPr>
            <a:r>
              <a:rPr lang="en-US" dirty="0">
                <a:solidFill>
                  <a:srgbClr val="18233C"/>
                </a:solidFill>
                <a:latin typeface="Calibri" pitchFamily="34" charset="0"/>
                <a:ea typeface="Calibri" pitchFamily="34" charset="-122"/>
                <a:cs typeface="Calibri" pitchFamily="34" charset="-120"/>
              </a:rPr>
              <a:t>Loads are applied only at the joints</a:t>
            </a:r>
            <a:endParaRPr lang="en-US" dirty="0"/>
          </a:p>
        </p:txBody>
      </p:sp>
      <p:sp>
        <p:nvSpPr>
          <p:cNvPr id="13" name="Shape 11"/>
          <p:cNvSpPr/>
          <p:nvPr/>
        </p:nvSpPr>
        <p:spPr>
          <a:xfrm>
            <a:off x="548640" y="4343400"/>
            <a:ext cx="11091672" cy="685800"/>
          </a:xfrm>
          <a:prstGeom prst="roundRect">
            <a:avLst>
              <a:gd name="adj" fmla="val 8000"/>
            </a:avLst>
          </a:prstGeom>
          <a:ln/>
        </p:spPr>
        <p:style>
          <a:lnRef idx="1">
            <a:schemeClr val="accent6"/>
          </a:lnRef>
          <a:fillRef idx="2">
            <a:schemeClr val="accent6"/>
          </a:fillRef>
          <a:effectRef idx="1">
            <a:schemeClr val="accent6"/>
          </a:effectRef>
          <a:fontRef idx="minor">
            <a:schemeClr val="dk1"/>
          </a:fontRef>
        </p:style>
        <p:txBody>
          <a:bodyPr/>
          <a:lstStyle/>
          <a:p>
            <a:pPr algn="just"/>
            <a:endParaRPr lang="en-US" sz="4000"/>
          </a:p>
        </p:txBody>
      </p:sp>
      <p:sp>
        <p:nvSpPr>
          <p:cNvPr id="14" name="Shape 12"/>
          <p:cNvSpPr/>
          <p:nvPr/>
        </p:nvSpPr>
        <p:spPr>
          <a:xfrm>
            <a:off x="777240" y="4462272"/>
            <a:ext cx="457200" cy="457200"/>
          </a:xfrm>
          <a:prstGeom prst="ellipse">
            <a:avLst/>
          </a:prstGeom>
          <a:solidFill>
            <a:srgbClr val="AFC3D6"/>
          </a:solidFill>
          <a:ln w="12700">
            <a:solidFill>
              <a:srgbClr val="5B7B9C"/>
            </a:solidFill>
            <a:prstDash val="solid"/>
          </a:ln>
        </p:spPr>
        <p:txBody>
          <a:bodyPr/>
          <a:lstStyle/>
          <a:p>
            <a:pPr algn="just"/>
            <a:endParaRPr lang="en-US" sz="2400"/>
          </a:p>
        </p:txBody>
      </p:sp>
      <p:sp>
        <p:nvSpPr>
          <p:cNvPr id="15" name="Text 13"/>
          <p:cNvSpPr/>
          <p:nvPr/>
        </p:nvSpPr>
        <p:spPr>
          <a:xfrm>
            <a:off x="777240" y="4462272"/>
            <a:ext cx="457200" cy="457200"/>
          </a:xfrm>
          <a:prstGeom prst="rect">
            <a:avLst/>
          </a:prstGeom>
          <a:noFill/>
          <a:ln/>
        </p:spPr>
        <p:txBody>
          <a:bodyPr wrap="square" rtlCol="0" anchor="ctr"/>
          <a:lstStyle/>
          <a:p>
            <a:pPr marL="0" indent="0" algn="just">
              <a:buNone/>
            </a:pPr>
            <a:r>
              <a:rPr lang="en-US" sz="2000" b="1" dirty="0">
                <a:solidFill>
                  <a:srgbClr val="18233C"/>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417320" y="4343400"/>
            <a:ext cx="9966960" cy="685800"/>
          </a:xfrm>
          <a:prstGeom prst="rect">
            <a:avLst/>
          </a:prstGeom>
          <a:noFill/>
          <a:ln/>
        </p:spPr>
        <p:txBody>
          <a:bodyPr wrap="square" rtlCol="0" anchor="ctr"/>
          <a:lstStyle/>
          <a:p>
            <a:pPr marL="0" indent="0" algn="just">
              <a:buNone/>
            </a:pPr>
            <a:r>
              <a:rPr lang="en-US" dirty="0">
                <a:solidFill>
                  <a:srgbClr val="18233C"/>
                </a:solidFill>
                <a:latin typeface="Calibri" pitchFamily="34" charset="0"/>
                <a:ea typeface="Calibri" pitchFamily="34" charset="-122"/>
                <a:cs typeface="Calibri" pitchFamily="34" charset="-120"/>
              </a:rPr>
              <a:t>Members carry axial forces only — tension or compression</a:t>
            </a:r>
            <a:endParaRPr lang="en-US" dirty="0"/>
          </a:p>
        </p:txBody>
      </p:sp>
      <p:sp>
        <p:nvSpPr>
          <p:cNvPr id="17" name="Shape 15"/>
          <p:cNvSpPr/>
          <p:nvPr/>
        </p:nvSpPr>
        <p:spPr>
          <a:xfrm>
            <a:off x="548640" y="5212080"/>
            <a:ext cx="11091672" cy="685800"/>
          </a:xfrm>
          <a:prstGeom prst="roundRect">
            <a:avLst>
              <a:gd name="adj" fmla="val 8000"/>
            </a:avLst>
          </a:prstGeom>
          <a:ln/>
        </p:spPr>
        <p:style>
          <a:lnRef idx="1">
            <a:schemeClr val="accent2"/>
          </a:lnRef>
          <a:fillRef idx="2">
            <a:schemeClr val="accent2"/>
          </a:fillRef>
          <a:effectRef idx="1">
            <a:schemeClr val="accent2"/>
          </a:effectRef>
          <a:fontRef idx="minor">
            <a:schemeClr val="dk1"/>
          </a:fontRef>
        </p:style>
        <p:txBody>
          <a:bodyPr/>
          <a:lstStyle/>
          <a:p>
            <a:pPr algn="just"/>
            <a:endParaRPr lang="en-US" sz="4000"/>
          </a:p>
        </p:txBody>
      </p:sp>
      <p:sp>
        <p:nvSpPr>
          <p:cNvPr id="18" name="Shape 16"/>
          <p:cNvSpPr/>
          <p:nvPr/>
        </p:nvSpPr>
        <p:spPr>
          <a:xfrm>
            <a:off x="777240" y="5330952"/>
            <a:ext cx="457200" cy="457200"/>
          </a:xfrm>
          <a:prstGeom prst="ellipse">
            <a:avLst/>
          </a:prstGeom>
          <a:solidFill>
            <a:srgbClr val="AFC3D6"/>
          </a:solidFill>
          <a:ln w="12700">
            <a:solidFill>
              <a:srgbClr val="5B7B9C"/>
            </a:solidFill>
            <a:prstDash val="solid"/>
          </a:ln>
        </p:spPr>
        <p:txBody>
          <a:bodyPr/>
          <a:lstStyle/>
          <a:p>
            <a:pPr algn="just"/>
            <a:endParaRPr lang="en-US" sz="2400"/>
          </a:p>
        </p:txBody>
      </p:sp>
      <p:sp>
        <p:nvSpPr>
          <p:cNvPr id="19" name="Text 17"/>
          <p:cNvSpPr/>
          <p:nvPr/>
        </p:nvSpPr>
        <p:spPr>
          <a:xfrm>
            <a:off x="777240" y="5330952"/>
            <a:ext cx="457200" cy="457200"/>
          </a:xfrm>
          <a:prstGeom prst="rect">
            <a:avLst/>
          </a:prstGeom>
          <a:noFill/>
          <a:ln/>
        </p:spPr>
        <p:txBody>
          <a:bodyPr wrap="square" rtlCol="0" anchor="ctr"/>
          <a:lstStyle/>
          <a:p>
            <a:pPr marL="0" indent="0" algn="just">
              <a:buNone/>
            </a:pPr>
            <a:r>
              <a:rPr lang="en-US" sz="2000" b="1" dirty="0">
                <a:solidFill>
                  <a:srgbClr val="18233C"/>
                </a:solidFill>
                <a:latin typeface="Cambria" pitchFamily="34" charset="0"/>
                <a:ea typeface="Cambria" pitchFamily="34" charset="-122"/>
                <a:cs typeface="Cambria" pitchFamily="34" charset="-120"/>
              </a:rPr>
              <a:t>4</a:t>
            </a:r>
            <a:endParaRPr lang="en-US" sz="2000" dirty="0"/>
          </a:p>
        </p:txBody>
      </p:sp>
      <p:sp>
        <p:nvSpPr>
          <p:cNvPr id="20" name="Text 18"/>
          <p:cNvSpPr/>
          <p:nvPr/>
        </p:nvSpPr>
        <p:spPr>
          <a:xfrm>
            <a:off x="1417320" y="5212080"/>
            <a:ext cx="9966960" cy="685800"/>
          </a:xfrm>
          <a:prstGeom prst="rect">
            <a:avLst/>
          </a:prstGeom>
          <a:noFill/>
          <a:ln/>
        </p:spPr>
        <p:txBody>
          <a:bodyPr wrap="square" rtlCol="0" anchor="ctr"/>
          <a:lstStyle/>
          <a:p>
            <a:pPr marL="0" indent="0" algn="just">
              <a:buNone/>
            </a:pPr>
            <a:r>
              <a:rPr lang="en-US" dirty="0">
                <a:solidFill>
                  <a:srgbClr val="18233C"/>
                </a:solidFill>
                <a:latin typeface="Calibri" pitchFamily="34" charset="0"/>
                <a:ea typeface="Calibri" pitchFamily="34" charset="-122"/>
                <a:cs typeface="Calibri" pitchFamily="34" charset="-120"/>
              </a:rPr>
              <a:t>Self-weight of members is negligible vs. applied loads</a:t>
            </a:r>
            <a:endParaRPr lang="en-US" dirty="0"/>
          </a:p>
        </p:txBody>
      </p:sp>
      <p:sp>
        <p:nvSpPr>
          <p:cNvPr id="21" name="Text 19"/>
          <p:cNvSpPr/>
          <p:nvPr/>
        </p:nvSpPr>
        <p:spPr>
          <a:xfrm>
            <a:off x="457200" y="6473952"/>
            <a:ext cx="5486400" cy="274320"/>
          </a:xfrm>
          <a:prstGeom prst="rect">
            <a:avLst/>
          </a:prstGeom>
          <a:noFill/>
          <a:ln/>
        </p:spPr>
        <p:txBody>
          <a:bodyPr wrap="square" rtlCol="0" anchor="ctr"/>
          <a:lstStyle/>
          <a:p>
            <a:pPr marL="0" indent="0" algn="just">
              <a:buNone/>
            </a:pPr>
            <a:r>
              <a:rPr lang="en-US" sz="1050" dirty="0">
                <a:solidFill>
                  <a:srgbClr val="45556E"/>
                </a:solidFill>
                <a:latin typeface="Calibri" pitchFamily="34" charset="0"/>
                <a:ea typeface="Calibri" pitchFamily="34" charset="-122"/>
                <a:cs typeface="Calibri" pitchFamily="34" charset="-120"/>
              </a:rPr>
              <a:t>Frais Asghar  |  NUST · SMME</a:t>
            </a:r>
            <a:endParaRPr lang="en-US" sz="105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just">
              <a:buNone/>
            </a:pPr>
            <a:r>
              <a:rPr lang="en-US" sz="1050" dirty="0">
                <a:solidFill>
                  <a:srgbClr val="45556E"/>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buNone/>
            </a:pPr>
            <a:r>
              <a:rPr lang="en-US" sz="2800" b="1" dirty="0">
                <a:solidFill>
                  <a:srgbClr val="18233C"/>
                </a:solidFill>
                <a:latin typeface="Cambria" pitchFamily="34" charset="0"/>
                <a:ea typeface="Cambria" pitchFamily="34" charset="-122"/>
                <a:cs typeface="Cambria" pitchFamily="34" charset="-120"/>
              </a:rPr>
              <a:t>Truss Geometry &amp; Applied Load</a:t>
            </a:r>
            <a:endParaRPr lang="en-US" sz="2800" dirty="0"/>
          </a:p>
        </p:txBody>
      </p:sp>
      <p:sp>
        <p:nvSpPr>
          <p:cNvPr id="3" name="Text 1"/>
          <p:cNvSpPr/>
          <p:nvPr/>
        </p:nvSpPr>
        <p:spPr>
          <a:xfrm>
            <a:off x="548640" y="896112"/>
            <a:ext cx="11091672" cy="320040"/>
          </a:xfrm>
          <a:prstGeom prst="rect">
            <a:avLst/>
          </a:prstGeom>
          <a:noFill/>
          <a:ln/>
        </p:spPr>
        <p:txBody>
          <a:bodyPr wrap="square" rtlCol="0" anchor="ctr"/>
          <a:lstStyle/>
          <a:p>
            <a:pPr marL="0" indent="0">
              <a:buNone/>
            </a:pPr>
            <a:r>
              <a:rPr lang="en-US" sz="1300" i="1" dirty="0">
                <a:solidFill>
                  <a:srgbClr val="5B7B9C"/>
                </a:solidFill>
                <a:latin typeface="Calibri" pitchFamily="34" charset="0"/>
                <a:ea typeface="Calibri" pitchFamily="34" charset="-122"/>
                <a:cs typeface="Calibri" pitchFamily="34" charset="-120"/>
              </a:rPr>
              <a:t>Roller support at A · Pin support at C · Horizontal load at D</a:t>
            </a:r>
            <a:endParaRPr lang="en-US" sz="1300" dirty="0"/>
          </a:p>
        </p:txBody>
      </p:sp>
      <p:sp>
        <p:nvSpPr>
          <p:cNvPr id="4" name="Shape 2"/>
          <p:cNvSpPr/>
          <p:nvPr/>
        </p:nvSpPr>
        <p:spPr>
          <a:xfrm>
            <a:off x="1280160" y="5623560"/>
            <a:ext cx="2926080" cy="914"/>
          </a:xfrm>
          <a:prstGeom prst="line">
            <a:avLst/>
          </a:prstGeom>
          <a:noFill/>
          <a:ln w="38100">
            <a:solidFill>
              <a:srgbClr val="5B7B9C"/>
            </a:solidFill>
            <a:prstDash val="solid"/>
          </a:ln>
        </p:spPr>
        <p:txBody>
          <a:bodyPr/>
          <a:lstStyle/>
          <a:p>
            <a:endParaRPr lang="en-US"/>
          </a:p>
        </p:txBody>
      </p:sp>
      <p:sp>
        <p:nvSpPr>
          <p:cNvPr id="5" name="Text 3"/>
          <p:cNvSpPr/>
          <p:nvPr/>
        </p:nvSpPr>
        <p:spPr>
          <a:xfrm>
            <a:off x="2377440" y="5715000"/>
            <a:ext cx="731520" cy="329184"/>
          </a:xfrm>
          <a:prstGeom prst="rect">
            <a:avLst/>
          </a:prstGeom>
          <a:solidFill>
            <a:srgbClr val="F4F6F9"/>
          </a:solidFill>
          <a:ln/>
        </p:spPr>
        <p:txBody>
          <a:bodyPr wrap="square" rtlCol="0" anchor="ctr"/>
          <a:lstStyle/>
          <a:p>
            <a:pPr marL="0" indent="0" algn="ctr">
              <a:buNone/>
            </a:pPr>
            <a:r>
              <a:rPr lang="en-US" sz="1100" b="1" dirty="0">
                <a:solidFill>
                  <a:srgbClr val="18233C"/>
                </a:solidFill>
                <a:latin typeface="Calibri" pitchFamily="34" charset="0"/>
                <a:ea typeface="Calibri" pitchFamily="34" charset="-122"/>
                <a:cs typeface="Calibri" pitchFamily="34" charset="-120"/>
              </a:rPr>
              <a:t>AB</a:t>
            </a:r>
            <a:endParaRPr lang="en-US" sz="1100" dirty="0"/>
          </a:p>
        </p:txBody>
      </p:sp>
      <p:sp>
        <p:nvSpPr>
          <p:cNvPr id="6" name="Shape 4"/>
          <p:cNvSpPr/>
          <p:nvPr/>
        </p:nvSpPr>
        <p:spPr>
          <a:xfrm>
            <a:off x="4206240" y="5623560"/>
            <a:ext cx="2926080" cy="914"/>
          </a:xfrm>
          <a:prstGeom prst="line">
            <a:avLst/>
          </a:prstGeom>
          <a:noFill/>
          <a:ln w="38100">
            <a:solidFill>
              <a:srgbClr val="5B7B9C"/>
            </a:solidFill>
            <a:prstDash val="solid"/>
          </a:ln>
        </p:spPr>
        <p:txBody>
          <a:bodyPr/>
          <a:lstStyle/>
          <a:p>
            <a:endParaRPr lang="en-US"/>
          </a:p>
        </p:txBody>
      </p:sp>
      <p:sp>
        <p:nvSpPr>
          <p:cNvPr id="7" name="Text 5"/>
          <p:cNvSpPr/>
          <p:nvPr/>
        </p:nvSpPr>
        <p:spPr>
          <a:xfrm>
            <a:off x="5303520" y="5715000"/>
            <a:ext cx="731520" cy="329184"/>
          </a:xfrm>
          <a:prstGeom prst="rect">
            <a:avLst/>
          </a:prstGeom>
          <a:solidFill>
            <a:srgbClr val="F4F6F9"/>
          </a:solidFill>
          <a:ln/>
        </p:spPr>
        <p:txBody>
          <a:bodyPr wrap="square" rtlCol="0" anchor="ctr"/>
          <a:lstStyle/>
          <a:p>
            <a:pPr marL="0" indent="0" algn="ctr">
              <a:buNone/>
            </a:pPr>
            <a:r>
              <a:rPr lang="en-US" sz="1100" b="1" dirty="0">
                <a:solidFill>
                  <a:srgbClr val="18233C"/>
                </a:solidFill>
                <a:latin typeface="Calibri" pitchFamily="34" charset="0"/>
                <a:ea typeface="Calibri" pitchFamily="34" charset="-122"/>
                <a:cs typeface="Calibri" pitchFamily="34" charset="-120"/>
              </a:rPr>
              <a:t>BC</a:t>
            </a:r>
            <a:endParaRPr lang="en-US" sz="1100" dirty="0"/>
          </a:p>
        </p:txBody>
      </p:sp>
      <p:sp>
        <p:nvSpPr>
          <p:cNvPr id="8" name="Shape 6"/>
          <p:cNvSpPr/>
          <p:nvPr/>
        </p:nvSpPr>
        <p:spPr>
          <a:xfrm flipV="1">
            <a:off x="1280160" y="2697480"/>
            <a:ext cx="2926080" cy="2926080"/>
          </a:xfrm>
          <a:prstGeom prst="line">
            <a:avLst/>
          </a:prstGeom>
          <a:noFill/>
          <a:ln w="38100">
            <a:solidFill>
              <a:srgbClr val="5B7B9C"/>
            </a:solidFill>
            <a:prstDash val="solid"/>
          </a:ln>
        </p:spPr>
        <p:txBody>
          <a:bodyPr/>
          <a:lstStyle/>
          <a:p>
            <a:endParaRPr lang="en-US"/>
          </a:p>
        </p:txBody>
      </p:sp>
      <p:sp>
        <p:nvSpPr>
          <p:cNvPr id="9" name="Text 7"/>
          <p:cNvSpPr/>
          <p:nvPr/>
        </p:nvSpPr>
        <p:spPr>
          <a:xfrm>
            <a:off x="2235708" y="3995928"/>
            <a:ext cx="731520" cy="329184"/>
          </a:xfrm>
          <a:prstGeom prst="rect">
            <a:avLst/>
          </a:prstGeom>
          <a:solidFill>
            <a:srgbClr val="F4F6F9"/>
          </a:solidFill>
          <a:ln/>
        </p:spPr>
        <p:txBody>
          <a:bodyPr wrap="square" rtlCol="0" anchor="ctr"/>
          <a:lstStyle/>
          <a:p>
            <a:pPr marL="0" indent="0" algn="ctr">
              <a:buNone/>
            </a:pPr>
            <a:r>
              <a:rPr lang="en-US" sz="1100" b="1" dirty="0">
                <a:solidFill>
                  <a:srgbClr val="18233C"/>
                </a:solidFill>
                <a:latin typeface="Calibri" pitchFamily="34" charset="0"/>
                <a:ea typeface="Calibri" pitchFamily="34" charset="-122"/>
                <a:cs typeface="Calibri" pitchFamily="34" charset="-120"/>
              </a:rPr>
              <a:t>AD</a:t>
            </a:r>
            <a:endParaRPr lang="en-US" sz="1100" dirty="0"/>
          </a:p>
        </p:txBody>
      </p:sp>
      <p:sp>
        <p:nvSpPr>
          <p:cNvPr id="10" name="Shape 8"/>
          <p:cNvSpPr/>
          <p:nvPr/>
        </p:nvSpPr>
        <p:spPr>
          <a:xfrm flipV="1">
            <a:off x="4206240" y="2697480"/>
            <a:ext cx="2926080" cy="2926080"/>
          </a:xfrm>
          <a:prstGeom prst="line">
            <a:avLst/>
          </a:prstGeom>
          <a:noFill/>
          <a:ln w="38100">
            <a:solidFill>
              <a:srgbClr val="5B7B9C"/>
            </a:solidFill>
            <a:prstDash val="solid"/>
          </a:ln>
        </p:spPr>
        <p:txBody>
          <a:bodyPr/>
          <a:lstStyle/>
          <a:p>
            <a:endParaRPr lang="en-US"/>
          </a:p>
        </p:txBody>
      </p:sp>
      <p:sp>
        <p:nvSpPr>
          <p:cNvPr id="11" name="Text 9"/>
          <p:cNvSpPr/>
          <p:nvPr/>
        </p:nvSpPr>
        <p:spPr>
          <a:xfrm>
            <a:off x="5362956" y="3886200"/>
            <a:ext cx="731520" cy="329184"/>
          </a:xfrm>
          <a:prstGeom prst="rect">
            <a:avLst/>
          </a:prstGeom>
          <a:solidFill>
            <a:srgbClr val="F4F6F9"/>
          </a:solidFill>
          <a:ln/>
        </p:spPr>
        <p:txBody>
          <a:bodyPr wrap="square" rtlCol="0" anchor="ctr"/>
          <a:lstStyle/>
          <a:p>
            <a:pPr marL="0" indent="0" algn="ctr">
              <a:buNone/>
            </a:pPr>
            <a:r>
              <a:rPr lang="en-US" sz="1100" b="1" dirty="0">
                <a:solidFill>
                  <a:srgbClr val="18233C"/>
                </a:solidFill>
                <a:latin typeface="Calibri" pitchFamily="34" charset="0"/>
                <a:ea typeface="Calibri" pitchFamily="34" charset="-122"/>
                <a:cs typeface="Calibri" pitchFamily="34" charset="-120"/>
              </a:rPr>
              <a:t>CD</a:t>
            </a:r>
            <a:endParaRPr lang="en-US" sz="1100" dirty="0"/>
          </a:p>
        </p:txBody>
      </p:sp>
      <p:sp>
        <p:nvSpPr>
          <p:cNvPr id="12" name="Shape 10"/>
          <p:cNvSpPr/>
          <p:nvPr/>
        </p:nvSpPr>
        <p:spPr>
          <a:xfrm flipV="1">
            <a:off x="4206240" y="2697480"/>
            <a:ext cx="914" cy="2926080"/>
          </a:xfrm>
          <a:prstGeom prst="line">
            <a:avLst/>
          </a:prstGeom>
          <a:noFill/>
          <a:ln w="38100">
            <a:solidFill>
              <a:srgbClr val="5B7B9C"/>
            </a:solidFill>
            <a:prstDash val="solid"/>
          </a:ln>
        </p:spPr>
        <p:txBody>
          <a:bodyPr/>
          <a:lstStyle/>
          <a:p>
            <a:endParaRPr lang="en-US"/>
          </a:p>
        </p:txBody>
      </p:sp>
      <p:sp>
        <p:nvSpPr>
          <p:cNvPr id="13" name="Text 11"/>
          <p:cNvSpPr/>
          <p:nvPr/>
        </p:nvSpPr>
        <p:spPr>
          <a:xfrm>
            <a:off x="3858768" y="3986784"/>
            <a:ext cx="731520" cy="329184"/>
          </a:xfrm>
          <a:prstGeom prst="rect">
            <a:avLst/>
          </a:prstGeom>
          <a:solidFill>
            <a:srgbClr val="F4F6F9"/>
          </a:solidFill>
          <a:ln/>
        </p:spPr>
        <p:txBody>
          <a:bodyPr wrap="square" rtlCol="0" anchor="ctr"/>
          <a:lstStyle/>
          <a:p>
            <a:pPr marL="0" indent="0" algn="ctr">
              <a:buNone/>
            </a:pPr>
            <a:r>
              <a:rPr lang="en-US" sz="1100" b="1" dirty="0">
                <a:solidFill>
                  <a:srgbClr val="18233C"/>
                </a:solidFill>
                <a:latin typeface="Calibri" pitchFamily="34" charset="0"/>
                <a:ea typeface="Calibri" pitchFamily="34" charset="-122"/>
                <a:cs typeface="Calibri" pitchFamily="34" charset="-120"/>
              </a:rPr>
              <a:t>BD</a:t>
            </a:r>
            <a:endParaRPr lang="en-US" sz="1100" dirty="0"/>
          </a:p>
        </p:txBody>
      </p:sp>
      <p:sp>
        <p:nvSpPr>
          <p:cNvPr id="14" name="Shape 12"/>
          <p:cNvSpPr/>
          <p:nvPr/>
        </p:nvSpPr>
        <p:spPr>
          <a:xfrm>
            <a:off x="1197864" y="5541264"/>
            <a:ext cx="164592" cy="164592"/>
          </a:xfrm>
          <a:prstGeom prst="ellipse">
            <a:avLst/>
          </a:prstGeom>
          <a:solidFill>
            <a:srgbClr val="18233C"/>
          </a:solidFill>
          <a:ln w="12700">
            <a:solidFill>
              <a:srgbClr val="18233C"/>
            </a:solidFill>
            <a:prstDash val="solid"/>
          </a:ln>
        </p:spPr>
        <p:txBody>
          <a:bodyPr/>
          <a:lstStyle/>
          <a:p>
            <a:endParaRPr lang="en-US"/>
          </a:p>
        </p:txBody>
      </p:sp>
      <p:sp>
        <p:nvSpPr>
          <p:cNvPr id="15" name="Text 13"/>
          <p:cNvSpPr/>
          <p:nvPr/>
        </p:nvSpPr>
        <p:spPr>
          <a:xfrm>
            <a:off x="896112" y="5696712"/>
            <a:ext cx="365760" cy="274320"/>
          </a:xfrm>
          <a:prstGeom prst="rect">
            <a:avLst/>
          </a:prstGeom>
          <a:noFill/>
          <a:ln/>
        </p:spPr>
        <p:txBody>
          <a:bodyPr wrap="square" rtlCol="0" anchor="ctr"/>
          <a:lstStyle/>
          <a:p>
            <a:pPr marL="0" indent="0">
              <a:buNone/>
            </a:pPr>
            <a:r>
              <a:rPr lang="en-US" sz="1400" b="1" dirty="0">
                <a:solidFill>
                  <a:srgbClr val="18233C"/>
                </a:solidFill>
                <a:latin typeface="Cambria" pitchFamily="34" charset="0"/>
                <a:ea typeface="Cambria" pitchFamily="34" charset="-122"/>
                <a:cs typeface="Cambria" pitchFamily="34" charset="-120"/>
              </a:rPr>
              <a:t>A</a:t>
            </a:r>
            <a:endParaRPr lang="en-US" sz="1400" dirty="0"/>
          </a:p>
        </p:txBody>
      </p:sp>
      <p:sp>
        <p:nvSpPr>
          <p:cNvPr id="16" name="Shape 14"/>
          <p:cNvSpPr/>
          <p:nvPr/>
        </p:nvSpPr>
        <p:spPr>
          <a:xfrm>
            <a:off x="4123944" y="5541264"/>
            <a:ext cx="164592" cy="164592"/>
          </a:xfrm>
          <a:prstGeom prst="ellipse">
            <a:avLst/>
          </a:prstGeom>
          <a:solidFill>
            <a:srgbClr val="18233C"/>
          </a:solidFill>
          <a:ln w="12700">
            <a:solidFill>
              <a:srgbClr val="18233C"/>
            </a:solidFill>
            <a:prstDash val="solid"/>
          </a:ln>
        </p:spPr>
        <p:txBody>
          <a:bodyPr/>
          <a:lstStyle/>
          <a:p>
            <a:endParaRPr lang="en-US"/>
          </a:p>
        </p:txBody>
      </p:sp>
      <p:sp>
        <p:nvSpPr>
          <p:cNvPr id="17" name="Text 15"/>
          <p:cNvSpPr/>
          <p:nvPr/>
        </p:nvSpPr>
        <p:spPr>
          <a:xfrm>
            <a:off x="4133088" y="5733288"/>
            <a:ext cx="365760" cy="274320"/>
          </a:xfrm>
          <a:prstGeom prst="rect">
            <a:avLst/>
          </a:prstGeom>
          <a:noFill/>
          <a:ln/>
        </p:spPr>
        <p:txBody>
          <a:bodyPr wrap="square" rtlCol="0" anchor="ctr"/>
          <a:lstStyle/>
          <a:p>
            <a:pPr marL="0" indent="0">
              <a:buNone/>
            </a:pPr>
            <a:r>
              <a:rPr lang="en-US" sz="1400" b="1" dirty="0">
                <a:solidFill>
                  <a:srgbClr val="18233C"/>
                </a:solidFill>
                <a:latin typeface="Cambria" pitchFamily="34" charset="0"/>
                <a:ea typeface="Cambria" pitchFamily="34" charset="-122"/>
                <a:cs typeface="Cambria" pitchFamily="34" charset="-120"/>
              </a:rPr>
              <a:t>B</a:t>
            </a:r>
            <a:endParaRPr lang="en-US" sz="1400" dirty="0"/>
          </a:p>
        </p:txBody>
      </p:sp>
      <p:sp>
        <p:nvSpPr>
          <p:cNvPr id="18" name="Shape 16"/>
          <p:cNvSpPr/>
          <p:nvPr/>
        </p:nvSpPr>
        <p:spPr>
          <a:xfrm>
            <a:off x="7050024" y="5541264"/>
            <a:ext cx="164592" cy="164592"/>
          </a:xfrm>
          <a:prstGeom prst="ellipse">
            <a:avLst/>
          </a:prstGeom>
          <a:solidFill>
            <a:srgbClr val="18233C"/>
          </a:solidFill>
          <a:ln w="12700">
            <a:solidFill>
              <a:srgbClr val="18233C"/>
            </a:solidFill>
            <a:prstDash val="solid"/>
          </a:ln>
        </p:spPr>
        <p:txBody>
          <a:bodyPr/>
          <a:lstStyle/>
          <a:p>
            <a:endParaRPr lang="en-US"/>
          </a:p>
        </p:txBody>
      </p:sp>
      <p:sp>
        <p:nvSpPr>
          <p:cNvPr id="19" name="Text 17"/>
          <p:cNvSpPr/>
          <p:nvPr/>
        </p:nvSpPr>
        <p:spPr>
          <a:xfrm>
            <a:off x="7187184" y="5660136"/>
            <a:ext cx="365760" cy="274320"/>
          </a:xfrm>
          <a:prstGeom prst="rect">
            <a:avLst/>
          </a:prstGeom>
          <a:noFill/>
          <a:ln/>
        </p:spPr>
        <p:txBody>
          <a:bodyPr wrap="square" rtlCol="0" anchor="ctr"/>
          <a:lstStyle/>
          <a:p>
            <a:pPr marL="0" indent="0">
              <a:buNone/>
            </a:pPr>
            <a:r>
              <a:rPr lang="en-US" sz="1400" b="1" dirty="0">
                <a:solidFill>
                  <a:srgbClr val="18233C"/>
                </a:solidFill>
                <a:latin typeface="Cambria" pitchFamily="34" charset="0"/>
                <a:ea typeface="Cambria" pitchFamily="34" charset="-122"/>
                <a:cs typeface="Cambria" pitchFamily="34" charset="-120"/>
              </a:rPr>
              <a:t>C</a:t>
            </a:r>
            <a:endParaRPr lang="en-US" sz="1400" dirty="0"/>
          </a:p>
        </p:txBody>
      </p:sp>
      <p:sp>
        <p:nvSpPr>
          <p:cNvPr id="20" name="Shape 18"/>
          <p:cNvSpPr/>
          <p:nvPr/>
        </p:nvSpPr>
        <p:spPr>
          <a:xfrm>
            <a:off x="4123944" y="2615184"/>
            <a:ext cx="164592" cy="164592"/>
          </a:xfrm>
          <a:prstGeom prst="ellipse">
            <a:avLst/>
          </a:prstGeom>
          <a:solidFill>
            <a:srgbClr val="18233C"/>
          </a:solidFill>
          <a:ln w="12700">
            <a:solidFill>
              <a:srgbClr val="18233C"/>
            </a:solidFill>
            <a:prstDash val="solid"/>
          </a:ln>
        </p:spPr>
        <p:txBody>
          <a:bodyPr/>
          <a:lstStyle/>
          <a:p>
            <a:endParaRPr lang="en-US"/>
          </a:p>
        </p:txBody>
      </p:sp>
      <p:sp>
        <p:nvSpPr>
          <p:cNvPr id="21" name="Text 19"/>
          <p:cNvSpPr/>
          <p:nvPr/>
        </p:nvSpPr>
        <p:spPr>
          <a:xfrm>
            <a:off x="4133088" y="2313432"/>
            <a:ext cx="365760" cy="274320"/>
          </a:xfrm>
          <a:prstGeom prst="rect">
            <a:avLst/>
          </a:prstGeom>
          <a:noFill/>
          <a:ln/>
        </p:spPr>
        <p:txBody>
          <a:bodyPr wrap="square" rtlCol="0" anchor="ctr"/>
          <a:lstStyle/>
          <a:p>
            <a:pPr marL="0" indent="0">
              <a:buNone/>
            </a:pPr>
            <a:r>
              <a:rPr lang="en-US" sz="1400" b="1" dirty="0">
                <a:solidFill>
                  <a:srgbClr val="18233C"/>
                </a:solidFill>
                <a:latin typeface="Cambria" pitchFamily="34" charset="0"/>
                <a:ea typeface="Cambria" pitchFamily="34" charset="-122"/>
                <a:cs typeface="Cambria" pitchFamily="34" charset="-120"/>
              </a:rPr>
              <a:t>D</a:t>
            </a:r>
            <a:endParaRPr lang="en-US" sz="1400" dirty="0"/>
          </a:p>
        </p:txBody>
      </p:sp>
      <p:sp>
        <p:nvSpPr>
          <p:cNvPr id="22" name="Shape 20"/>
          <p:cNvSpPr/>
          <p:nvPr/>
        </p:nvSpPr>
        <p:spPr>
          <a:xfrm>
            <a:off x="1143000" y="5705856"/>
            <a:ext cx="274320" cy="219456"/>
          </a:xfrm>
          <a:prstGeom prst="triangle">
            <a:avLst/>
          </a:prstGeom>
          <a:solidFill>
            <a:srgbClr val="AFC3D6"/>
          </a:solidFill>
          <a:ln w="12700">
            <a:solidFill>
              <a:srgbClr val="5B7B9C"/>
            </a:solidFill>
            <a:prstDash val="solid"/>
          </a:ln>
        </p:spPr>
        <p:txBody>
          <a:bodyPr/>
          <a:lstStyle/>
          <a:p>
            <a:endParaRPr lang="en-US"/>
          </a:p>
        </p:txBody>
      </p:sp>
      <p:sp>
        <p:nvSpPr>
          <p:cNvPr id="23" name="Shape 21"/>
          <p:cNvSpPr/>
          <p:nvPr/>
        </p:nvSpPr>
        <p:spPr>
          <a:xfrm>
            <a:off x="1097280" y="5971032"/>
            <a:ext cx="365760" cy="0"/>
          </a:xfrm>
          <a:prstGeom prst="line">
            <a:avLst/>
          </a:prstGeom>
          <a:noFill/>
          <a:ln w="25400">
            <a:solidFill>
              <a:srgbClr val="5B7B9C"/>
            </a:solidFill>
            <a:prstDash val="solid"/>
          </a:ln>
        </p:spPr>
        <p:txBody>
          <a:bodyPr/>
          <a:lstStyle/>
          <a:p>
            <a:endParaRPr lang="en-US"/>
          </a:p>
        </p:txBody>
      </p:sp>
      <p:sp>
        <p:nvSpPr>
          <p:cNvPr id="24" name="Shape 22"/>
          <p:cNvSpPr/>
          <p:nvPr/>
        </p:nvSpPr>
        <p:spPr>
          <a:xfrm>
            <a:off x="6995160" y="5705856"/>
            <a:ext cx="274320" cy="219456"/>
          </a:xfrm>
          <a:prstGeom prst="triangle">
            <a:avLst/>
          </a:prstGeom>
          <a:solidFill>
            <a:srgbClr val="E8912D"/>
          </a:solidFill>
          <a:ln w="12700">
            <a:solidFill>
              <a:srgbClr val="5B7B9C"/>
            </a:solidFill>
            <a:prstDash val="solid"/>
          </a:ln>
        </p:spPr>
        <p:txBody>
          <a:bodyPr/>
          <a:lstStyle/>
          <a:p>
            <a:endParaRPr lang="en-US"/>
          </a:p>
        </p:txBody>
      </p:sp>
      <p:sp>
        <p:nvSpPr>
          <p:cNvPr id="25" name="Shape 23"/>
          <p:cNvSpPr/>
          <p:nvPr/>
        </p:nvSpPr>
        <p:spPr>
          <a:xfrm>
            <a:off x="6931152" y="5925312"/>
            <a:ext cx="402336" cy="0"/>
          </a:xfrm>
          <a:prstGeom prst="line">
            <a:avLst/>
          </a:prstGeom>
          <a:noFill/>
          <a:ln w="25400">
            <a:solidFill>
              <a:srgbClr val="5B7B9C"/>
            </a:solidFill>
            <a:prstDash val="solid"/>
          </a:ln>
        </p:spPr>
        <p:txBody>
          <a:bodyPr/>
          <a:lstStyle/>
          <a:p>
            <a:endParaRPr lang="en-US"/>
          </a:p>
        </p:txBody>
      </p:sp>
      <p:sp>
        <p:nvSpPr>
          <p:cNvPr id="26" name="Shape 24"/>
          <p:cNvSpPr/>
          <p:nvPr/>
        </p:nvSpPr>
        <p:spPr>
          <a:xfrm>
            <a:off x="960120" y="5971032"/>
            <a:ext cx="6492240" cy="0"/>
          </a:xfrm>
          <a:prstGeom prst="line">
            <a:avLst/>
          </a:prstGeom>
          <a:noFill/>
          <a:ln w="12700">
            <a:solidFill>
              <a:srgbClr val="5B7B9C"/>
            </a:solidFill>
            <a:prstDash val="solid"/>
          </a:ln>
        </p:spPr>
        <p:txBody>
          <a:bodyPr/>
          <a:lstStyle/>
          <a:p>
            <a:endParaRPr lang="en-US"/>
          </a:p>
        </p:txBody>
      </p:sp>
      <p:sp>
        <p:nvSpPr>
          <p:cNvPr id="27" name="Shape 25"/>
          <p:cNvSpPr/>
          <p:nvPr/>
        </p:nvSpPr>
        <p:spPr>
          <a:xfrm>
            <a:off x="4206240" y="2697480"/>
            <a:ext cx="914400" cy="0"/>
          </a:xfrm>
          <a:prstGeom prst="line">
            <a:avLst/>
          </a:prstGeom>
          <a:noFill/>
          <a:ln w="38100">
            <a:solidFill>
              <a:srgbClr val="B0413E"/>
            </a:solidFill>
            <a:prstDash val="solid"/>
            <a:tailEnd type="triangle"/>
          </a:ln>
        </p:spPr>
        <p:txBody>
          <a:bodyPr/>
          <a:lstStyle/>
          <a:p>
            <a:endParaRPr lang="en-US"/>
          </a:p>
        </p:txBody>
      </p:sp>
      <p:sp>
        <p:nvSpPr>
          <p:cNvPr id="28" name="Text 26"/>
          <p:cNvSpPr/>
          <p:nvPr/>
        </p:nvSpPr>
        <p:spPr>
          <a:xfrm>
            <a:off x="4343400" y="2350008"/>
            <a:ext cx="914400" cy="274320"/>
          </a:xfrm>
          <a:prstGeom prst="rect">
            <a:avLst/>
          </a:prstGeom>
          <a:noFill/>
          <a:ln/>
        </p:spPr>
        <p:txBody>
          <a:bodyPr wrap="square" rtlCol="0" anchor="ctr"/>
          <a:lstStyle/>
          <a:p>
            <a:pPr marL="0" indent="0">
              <a:buNone/>
            </a:pPr>
            <a:r>
              <a:rPr lang="en-US" sz="1300" b="1" dirty="0">
                <a:solidFill>
                  <a:srgbClr val="B0413E"/>
                </a:solidFill>
                <a:latin typeface="Calibri" pitchFamily="34" charset="0"/>
                <a:ea typeface="Calibri" pitchFamily="34" charset="-122"/>
                <a:cs typeface="Calibri" pitchFamily="34" charset="-120"/>
              </a:rPr>
              <a:t>300 N</a:t>
            </a:r>
            <a:endParaRPr lang="en-US" sz="1300" dirty="0"/>
          </a:p>
        </p:txBody>
      </p:sp>
      <p:sp>
        <p:nvSpPr>
          <p:cNvPr id="29" name="Text 27"/>
          <p:cNvSpPr/>
          <p:nvPr/>
        </p:nvSpPr>
        <p:spPr>
          <a:xfrm>
            <a:off x="2468880" y="6126480"/>
            <a:ext cx="548640" cy="274320"/>
          </a:xfrm>
          <a:prstGeom prst="rect">
            <a:avLst/>
          </a:prstGeom>
          <a:noFill/>
          <a:ln/>
        </p:spPr>
        <p:txBody>
          <a:bodyPr wrap="square" rtlCol="0" anchor="ctr"/>
          <a:lstStyle/>
          <a:p>
            <a:pPr marL="0" indent="0" algn="ctr">
              <a:buNone/>
            </a:pPr>
            <a:r>
              <a:rPr lang="en-US" sz="1100" dirty="0">
                <a:solidFill>
                  <a:srgbClr val="45556E"/>
                </a:solidFill>
                <a:latin typeface="Calibri" pitchFamily="34" charset="0"/>
                <a:ea typeface="Calibri" pitchFamily="34" charset="-122"/>
                <a:cs typeface="Calibri" pitchFamily="34" charset="-120"/>
              </a:rPr>
              <a:t>4 m</a:t>
            </a:r>
            <a:endParaRPr lang="en-US" sz="1100" dirty="0"/>
          </a:p>
        </p:txBody>
      </p:sp>
      <p:sp>
        <p:nvSpPr>
          <p:cNvPr id="30" name="Text 28"/>
          <p:cNvSpPr/>
          <p:nvPr/>
        </p:nvSpPr>
        <p:spPr>
          <a:xfrm>
            <a:off x="5394960" y="6126480"/>
            <a:ext cx="548640" cy="274320"/>
          </a:xfrm>
          <a:prstGeom prst="rect">
            <a:avLst/>
          </a:prstGeom>
          <a:noFill/>
          <a:ln/>
        </p:spPr>
        <p:txBody>
          <a:bodyPr wrap="square" rtlCol="0" anchor="ctr"/>
          <a:lstStyle/>
          <a:p>
            <a:pPr marL="0" indent="0" algn="ctr">
              <a:buNone/>
            </a:pPr>
            <a:r>
              <a:rPr lang="en-US" sz="1100" dirty="0">
                <a:solidFill>
                  <a:srgbClr val="45556E"/>
                </a:solidFill>
                <a:latin typeface="Calibri" pitchFamily="34" charset="0"/>
                <a:ea typeface="Calibri" pitchFamily="34" charset="-122"/>
                <a:cs typeface="Calibri" pitchFamily="34" charset="-120"/>
              </a:rPr>
              <a:t>4 m</a:t>
            </a:r>
            <a:endParaRPr lang="en-US" sz="1100" dirty="0"/>
          </a:p>
        </p:txBody>
      </p:sp>
      <p:sp>
        <p:nvSpPr>
          <p:cNvPr id="31" name="Text 29"/>
          <p:cNvSpPr/>
          <p:nvPr/>
        </p:nvSpPr>
        <p:spPr>
          <a:xfrm>
            <a:off x="1463040" y="4695444"/>
            <a:ext cx="548640" cy="274320"/>
          </a:xfrm>
          <a:prstGeom prst="rect">
            <a:avLst/>
          </a:prstGeom>
          <a:noFill/>
          <a:ln/>
        </p:spPr>
        <p:txBody>
          <a:bodyPr wrap="square" rtlCol="0" anchor="ctr"/>
          <a:lstStyle/>
          <a:p>
            <a:pPr marL="0" indent="0" algn="ctr">
              <a:buNone/>
            </a:pPr>
            <a:r>
              <a:rPr lang="en-US" sz="1100" dirty="0">
                <a:solidFill>
                  <a:srgbClr val="45556E"/>
                </a:solidFill>
                <a:latin typeface="Calibri" pitchFamily="34" charset="0"/>
                <a:ea typeface="Calibri" pitchFamily="34" charset="-122"/>
                <a:cs typeface="Calibri" pitchFamily="34" charset="-120"/>
              </a:rPr>
              <a:t>4 m</a:t>
            </a:r>
            <a:endParaRPr lang="en-US" sz="1100" dirty="0"/>
          </a:p>
        </p:txBody>
      </p:sp>
      <p:sp>
        <p:nvSpPr>
          <p:cNvPr id="32" name="Shape 30"/>
          <p:cNvSpPr/>
          <p:nvPr/>
        </p:nvSpPr>
        <p:spPr>
          <a:xfrm>
            <a:off x="7772400" y="1600200"/>
            <a:ext cx="3840480" cy="4480560"/>
          </a:xfrm>
          <a:prstGeom prst="roundRect">
            <a:avLst>
              <a:gd name="adj" fmla="val 1905"/>
            </a:avLst>
          </a:prstGeom>
          <a:solidFill>
            <a:srgbClr val="18233C"/>
          </a:solidFill>
          <a:ln w="12700">
            <a:solidFill>
              <a:srgbClr val="18233C"/>
            </a:solidFill>
            <a:prstDash val="solid"/>
          </a:ln>
        </p:spPr>
        <p:txBody>
          <a:bodyPr/>
          <a:lstStyle/>
          <a:p>
            <a:endParaRPr lang="en-US"/>
          </a:p>
        </p:txBody>
      </p:sp>
      <p:sp>
        <p:nvSpPr>
          <p:cNvPr id="33" name="Text 31"/>
          <p:cNvSpPr/>
          <p:nvPr/>
        </p:nvSpPr>
        <p:spPr>
          <a:xfrm>
            <a:off x="8046720" y="1828800"/>
            <a:ext cx="329184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Load Derivation</a:t>
            </a:r>
            <a:endParaRPr lang="en-US" sz="1600" dirty="0"/>
          </a:p>
        </p:txBody>
      </p:sp>
      <p:sp>
        <p:nvSpPr>
          <p:cNvPr id="34" name="Text 32"/>
          <p:cNvSpPr/>
          <p:nvPr/>
        </p:nvSpPr>
        <p:spPr>
          <a:xfrm>
            <a:off x="8046720" y="2331720"/>
            <a:ext cx="3291840" cy="1645920"/>
          </a:xfrm>
          <a:prstGeom prst="rect">
            <a:avLst/>
          </a:prstGeom>
          <a:noFill/>
          <a:ln/>
        </p:spPr>
        <p:txBody>
          <a:bodyPr wrap="square" rtlCol="0" anchor="ctr"/>
          <a:lstStyle/>
          <a:p>
            <a:pPr marL="0" indent="0">
              <a:lnSpc>
                <a:spcPct val="130000"/>
              </a:lnSpc>
              <a:buNone/>
            </a:pPr>
            <a:r>
              <a:rPr lang="en-US" sz="1250" dirty="0">
                <a:solidFill>
                  <a:srgbClr val="AFC3D6"/>
                </a:solidFill>
                <a:latin typeface="Calibri" pitchFamily="34" charset="0"/>
                <a:ea typeface="Calibri" pitchFamily="34" charset="-122"/>
                <a:cs typeface="Calibri" pitchFamily="34" charset="-120"/>
              </a:rPr>
              <a:t>Applied load is based on the last two digits of Qasim's CMS ID.
</a:t>
            </a:r>
            <a:r>
              <a:rPr lang="en-US" sz="1300" dirty="0">
                <a:solidFill>
                  <a:srgbClr val="FFFFFF"/>
                </a:solidFill>
                <a:latin typeface="Calibri" pitchFamily="34" charset="0"/>
                <a:ea typeface="Calibri" pitchFamily="34" charset="-122"/>
                <a:cs typeface="Calibri" pitchFamily="34" charset="-120"/>
              </a:rPr>
              <a:t>CMS digits used:  30
Load = 30 × 10
</a:t>
            </a:r>
            <a:endParaRPr lang="en-US" sz="1250" dirty="0"/>
          </a:p>
        </p:txBody>
      </p:sp>
      <p:sp>
        <p:nvSpPr>
          <p:cNvPr id="35" name="Shape 33"/>
          <p:cNvSpPr/>
          <p:nvPr/>
        </p:nvSpPr>
        <p:spPr>
          <a:xfrm>
            <a:off x="8046720" y="3886200"/>
            <a:ext cx="3291840" cy="822960"/>
          </a:xfrm>
          <a:prstGeom prst="roundRect">
            <a:avLst>
              <a:gd name="adj" fmla="val 6667"/>
            </a:avLst>
          </a:prstGeom>
          <a:solidFill>
            <a:srgbClr val="E8912D"/>
          </a:solidFill>
          <a:ln w="12700">
            <a:solidFill>
              <a:srgbClr val="E8912D"/>
            </a:solidFill>
            <a:prstDash val="solid"/>
          </a:ln>
        </p:spPr>
        <p:txBody>
          <a:bodyPr/>
          <a:lstStyle/>
          <a:p>
            <a:endParaRPr lang="en-US"/>
          </a:p>
        </p:txBody>
      </p:sp>
      <p:sp>
        <p:nvSpPr>
          <p:cNvPr id="36" name="Text 34"/>
          <p:cNvSpPr/>
          <p:nvPr/>
        </p:nvSpPr>
        <p:spPr>
          <a:xfrm>
            <a:off x="8046720" y="3886200"/>
            <a:ext cx="3291840" cy="822960"/>
          </a:xfrm>
          <a:prstGeom prst="rect">
            <a:avLst/>
          </a:prstGeom>
          <a:noFill/>
          <a:ln/>
        </p:spPr>
        <p:txBody>
          <a:bodyPr wrap="square" rtlCol="0" anchor="ctr"/>
          <a:lstStyle/>
          <a:p>
            <a:pPr marL="0" indent="0" algn="ctr">
              <a:buNone/>
            </a:pPr>
            <a:r>
              <a:rPr lang="en-US" sz="1500" b="1" dirty="0">
                <a:solidFill>
                  <a:srgbClr val="18233C"/>
                </a:solidFill>
                <a:latin typeface="Cambria" pitchFamily="34" charset="0"/>
                <a:ea typeface="Cambria" pitchFamily="34" charset="-122"/>
                <a:cs typeface="Cambria" pitchFamily="34" charset="-120"/>
              </a:rPr>
              <a:t>Load = 300 N (Horizontal, at Joint D)</a:t>
            </a:r>
            <a:endParaRPr lang="en-US" sz="1500" dirty="0"/>
          </a:p>
        </p:txBody>
      </p:sp>
      <p:sp>
        <p:nvSpPr>
          <p:cNvPr id="37" name="Text 35"/>
          <p:cNvSpPr/>
          <p:nvPr/>
        </p:nvSpPr>
        <p:spPr>
          <a:xfrm>
            <a:off x="8046720" y="4892040"/>
            <a:ext cx="3291840" cy="1097280"/>
          </a:xfrm>
          <a:prstGeom prst="rect">
            <a:avLst/>
          </a:prstGeom>
          <a:noFill/>
          <a:ln/>
        </p:spPr>
        <p:txBody>
          <a:bodyPr wrap="square" rtlCol="0" anchor="ctr"/>
          <a:lstStyle/>
          <a:p>
            <a:pPr marL="0" indent="0">
              <a:lnSpc>
                <a:spcPct val="130000"/>
              </a:lnSpc>
              <a:buNone/>
            </a:pPr>
            <a:r>
              <a:rPr lang="en-US" sz="1300" b="1" dirty="0">
                <a:solidFill>
                  <a:srgbClr val="E8912D"/>
                </a:solidFill>
                <a:latin typeface="Calibri" pitchFamily="34" charset="0"/>
                <a:ea typeface="Calibri" pitchFamily="34" charset="-122"/>
                <a:cs typeface="Calibri" pitchFamily="34" charset="-120"/>
              </a:rPr>
              <a:t>Supports
</a:t>
            </a:r>
            <a:r>
              <a:rPr lang="en-US" sz="1200" dirty="0">
                <a:solidFill>
                  <a:srgbClr val="FFFFFF"/>
                </a:solidFill>
                <a:latin typeface="Calibri" pitchFamily="34" charset="0"/>
                <a:ea typeface="Calibri" pitchFamily="34" charset="-122"/>
                <a:cs typeface="Calibri" pitchFamily="34" charset="-120"/>
              </a:rPr>
              <a:t>A — Roller (vertical reaction only)
C — Pin (horizontal + vertical reaction)</a:t>
            </a:r>
            <a:endParaRPr lang="en-US" sz="1300" dirty="0"/>
          </a:p>
        </p:txBody>
      </p:sp>
      <p:sp>
        <p:nvSpPr>
          <p:cNvPr id="38" name="Text 36"/>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45556E"/>
                </a:solidFill>
                <a:latin typeface="Calibri" pitchFamily="34" charset="0"/>
                <a:ea typeface="Calibri" pitchFamily="34" charset="-122"/>
                <a:cs typeface="Calibri" pitchFamily="34" charset="-120"/>
              </a:rPr>
              <a:t>Frais Asghar  |  NUST · SMME</a:t>
            </a:r>
            <a:endParaRPr lang="en-US" sz="1000" dirty="0"/>
          </a:p>
        </p:txBody>
      </p:sp>
      <p:sp>
        <p:nvSpPr>
          <p:cNvPr id="39" name="Text 37"/>
          <p:cNvSpPr/>
          <p:nvPr/>
        </p:nvSpPr>
        <p:spPr>
          <a:xfrm>
            <a:off x="11274552" y="6473952"/>
            <a:ext cx="457200" cy="274320"/>
          </a:xfrm>
          <a:prstGeom prst="rect">
            <a:avLst/>
          </a:prstGeom>
          <a:noFill/>
          <a:ln/>
        </p:spPr>
        <p:txBody>
          <a:bodyPr wrap="square" rtlCol="0" anchor="ctr"/>
          <a:lstStyle/>
          <a:p>
            <a:pPr marL="0" indent="0" algn="r">
              <a:buNone/>
            </a:pPr>
            <a:r>
              <a:rPr lang="en-US" sz="900" dirty="0">
                <a:solidFill>
                  <a:srgbClr val="45556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buNone/>
            </a:pPr>
            <a:r>
              <a:rPr lang="en-US" sz="4000" b="1" dirty="0">
                <a:solidFill>
                  <a:srgbClr val="18233C"/>
                </a:solidFill>
                <a:latin typeface="Cambria" pitchFamily="34" charset="0"/>
                <a:ea typeface="Cambria" pitchFamily="34" charset="-122"/>
                <a:cs typeface="Cambria" pitchFamily="34" charset="-120"/>
              </a:rPr>
              <a:t>Analysis Roadmap</a:t>
            </a:r>
            <a:endParaRPr lang="en-US" sz="4000" dirty="0"/>
          </a:p>
        </p:txBody>
      </p:sp>
      <p:sp>
        <p:nvSpPr>
          <p:cNvPr id="3" name="Text 1"/>
          <p:cNvSpPr/>
          <p:nvPr/>
        </p:nvSpPr>
        <p:spPr>
          <a:xfrm>
            <a:off x="548640" y="896112"/>
            <a:ext cx="11091672" cy="320040"/>
          </a:xfrm>
          <a:prstGeom prst="rect">
            <a:avLst/>
          </a:prstGeom>
          <a:noFill/>
          <a:ln/>
        </p:spPr>
        <p:txBody>
          <a:bodyPr wrap="square" rtlCol="0" anchor="ctr"/>
          <a:lstStyle/>
          <a:p>
            <a:pPr marL="0" indent="0">
              <a:buNone/>
            </a:pPr>
            <a:r>
              <a:rPr lang="en-US" i="1" dirty="0">
                <a:solidFill>
                  <a:srgbClr val="5B7B9C"/>
                </a:solidFill>
                <a:latin typeface="Calibri" pitchFamily="34" charset="0"/>
                <a:ea typeface="Calibri" pitchFamily="34" charset="-122"/>
                <a:cs typeface="Calibri" pitchFamily="34" charset="-120"/>
              </a:rPr>
              <a:t>From free-body diagram to simulation-verified results</a:t>
            </a:r>
            <a:endParaRPr lang="en-US" dirty="0"/>
          </a:p>
        </p:txBody>
      </p:sp>
      <p:sp>
        <p:nvSpPr>
          <p:cNvPr id="4" name="Shape 2"/>
          <p:cNvSpPr/>
          <p:nvPr/>
        </p:nvSpPr>
        <p:spPr>
          <a:xfrm>
            <a:off x="1577340" y="3246120"/>
            <a:ext cx="9006840" cy="0"/>
          </a:xfrm>
          <a:prstGeom prst="line">
            <a:avLst/>
          </a:prstGeom>
          <a:noFill/>
          <a:ln w="38100">
            <a:solidFill>
              <a:srgbClr val="AFC3D6"/>
            </a:solidFill>
            <a:prstDash val="solid"/>
          </a:ln>
        </p:spPr>
        <p:txBody>
          <a:bodyPr/>
          <a:lstStyle/>
          <a:p>
            <a:endParaRPr lang="en-US" sz="2800"/>
          </a:p>
        </p:txBody>
      </p:sp>
      <p:sp>
        <p:nvSpPr>
          <p:cNvPr id="5" name="Shape 3"/>
          <p:cNvSpPr/>
          <p:nvPr/>
        </p:nvSpPr>
        <p:spPr>
          <a:xfrm>
            <a:off x="1165860" y="2834640"/>
            <a:ext cx="822960" cy="822960"/>
          </a:xfrm>
          <a:prstGeom prst="ellipse">
            <a:avLst/>
          </a:prstGeom>
          <a:solidFill>
            <a:srgbClr val="18233C"/>
          </a:solidFill>
          <a:ln w="12700">
            <a:solidFill>
              <a:srgbClr val="18233C"/>
            </a:solidFill>
            <a:prstDash val="solid"/>
          </a:ln>
        </p:spPr>
        <p:txBody>
          <a:bodyPr/>
          <a:lstStyle/>
          <a:p>
            <a:endParaRPr lang="en-US" sz="2800"/>
          </a:p>
        </p:txBody>
      </p:sp>
      <p:sp>
        <p:nvSpPr>
          <p:cNvPr id="6" name="Text 4"/>
          <p:cNvSpPr/>
          <p:nvPr/>
        </p:nvSpPr>
        <p:spPr>
          <a:xfrm>
            <a:off x="1165860" y="2834640"/>
            <a:ext cx="822960" cy="82296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01</a:t>
            </a:r>
            <a:endParaRPr lang="en-US" sz="3200" dirty="0"/>
          </a:p>
        </p:txBody>
      </p:sp>
      <p:sp>
        <p:nvSpPr>
          <p:cNvPr id="7" name="Text 5"/>
          <p:cNvSpPr/>
          <p:nvPr/>
        </p:nvSpPr>
        <p:spPr>
          <a:xfrm>
            <a:off x="502920" y="3794760"/>
            <a:ext cx="2148840" cy="502920"/>
          </a:xfrm>
          <a:prstGeom prst="rect">
            <a:avLst/>
          </a:prstGeom>
          <a:noFill/>
          <a:ln/>
        </p:spPr>
        <p:txBody>
          <a:bodyPr wrap="square" rtlCol="0" anchor="ctr"/>
          <a:lstStyle/>
          <a:p>
            <a:pPr marL="0" indent="0" algn="ctr">
              <a:buNone/>
            </a:pPr>
            <a:r>
              <a:rPr lang="en-US" b="1" dirty="0">
                <a:solidFill>
                  <a:srgbClr val="18233C"/>
                </a:solidFill>
                <a:latin typeface="Cambria" pitchFamily="34" charset="0"/>
                <a:ea typeface="Cambria" pitchFamily="34" charset="-122"/>
                <a:cs typeface="Cambria" pitchFamily="34" charset="-120"/>
              </a:rPr>
              <a:t>Identify Structure</a:t>
            </a:r>
            <a:endParaRPr lang="en-US" dirty="0"/>
          </a:p>
        </p:txBody>
      </p:sp>
      <p:sp>
        <p:nvSpPr>
          <p:cNvPr id="8" name="Text 6"/>
          <p:cNvSpPr/>
          <p:nvPr/>
        </p:nvSpPr>
        <p:spPr>
          <a:xfrm>
            <a:off x="502920" y="4251960"/>
            <a:ext cx="2148840" cy="914400"/>
          </a:xfrm>
          <a:prstGeom prst="rect">
            <a:avLst/>
          </a:prstGeom>
          <a:noFill/>
          <a:ln/>
        </p:spPr>
        <p:txBody>
          <a:bodyPr wrap="square" rtlCol="0" anchor="ctr"/>
          <a:lstStyle/>
          <a:p>
            <a:pPr marL="0" indent="0" algn="ctr">
              <a:buNone/>
            </a:pPr>
            <a:r>
              <a:rPr lang="en-US" sz="1600" dirty="0">
                <a:solidFill>
                  <a:srgbClr val="45556E"/>
                </a:solidFill>
                <a:latin typeface="Calibri" pitchFamily="34" charset="0"/>
                <a:ea typeface="Calibri" pitchFamily="34" charset="-122"/>
                <a:cs typeface="Calibri" pitchFamily="34" charset="-120"/>
              </a:rPr>
              <a:t>Joints, members, supports &amp; applied load</a:t>
            </a:r>
            <a:endParaRPr lang="en-US" sz="1600" dirty="0"/>
          </a:p>
        </p:txBody>
      </p:sp>
      <p:sp>
        <p:nvSpPr>
          <p:cNvPr id="9" name="Shape 7"/>
          <p:cNvSpPr/>
          <p:nvPr/>
        </p:nvSpPr>
        <p:spPr>
          <a:xfrm>
            <a:off x="3417570" y="2834640"/>
            <a:ext cx="822960" cy="822960"/>
          </a:xfrm>
          <a:prstGeom prst="ellipse">
            <a:avLst/>
          </a:prstGeom>
          <a:solidFill>
            <a:srgbClr val="18233C"/>
          </a:solidFill>
          <a:ln w="12700">
            <a:solidFill>
              <a:srgbClr val="18233C"/>
            </a:solidFill>
            <a:prstDash val="solid"/>
          </a:ln>
        </p:spPr>
        <p:txBody>
          <a:bodyPr/>
          <a:lstStyle/>
          <a:p>
            <a:endParaRPr lang="en-US" sz="2800"/>
          </a:p>
        </p:txBody>
      </p:sp>
      <p:sp>
        <p:nvSpPr>
          <p:cNvPr id="10" name="Text 8"/>
          <p:cNvSpPr/>
          <p:nvPr/>
        </p:nvSpPr>
        <p:spPr>
          <a:xfrm>
            <a:off x="3417570" y="2834640"/>
            <a:ext cx="822960" cy="82296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02</a:t>
            </a:r>
            <a:endParaRPr lang="en-US" sz="3200" dirty="0"/>
          </a:p>
        </p:txBody>
      </p:sp>
      <p:sp>
        <p:nvSpPr>
          <p:cNvPr id="11" name="Text 9"/>
          <p:cNvSpPr/>
          <p:nvPr/>
        </p:nvSpPr>
        <p:spPr>
          <a:xfrm>
            <a:off x="2754630" y="3794760"/>
            <a:ext cx="2148840" cy="502920"/>
          </a:xfrm>
          <a:prstGeom prst="rect">
            <a:avLst/>
          </a:prstGeom>
          <a:noFill/>
          <a:ln/>
        </p:spPr>
        <p:txBody>
          <a:bodyPr wrap="square" rtlCol="0" anchor="ctr"/>
          <a:lstStyle/>
          <a:p>
            <a:pPr marL="0" indent="0" algn="ctr">
              <a:buNone/>
            </a:pPr>
            <a:r>
              <a:rPr lang="en-US" b="1" dirty="0">
                <a:solidFill>
                  <a:srgbClr val="18233C"/>
                </a:solidFill>
                <a:latin typeface="Cambria" pitchFamily="34" charset="0"/>
                <a:ea typeface="Cambria" pitchFamily="34" charset="-122"/>
                <a:cs typeface="Cambria" pitchFamily="34" charset="-120"/>
              </a:rPr>
              <a:t>Whole-Truss Equilibrium</a:t>
            </a:r>
            <a:endParaRPr lang="en-US" dirty="0"/>
          </a:p>
        </p:txBody>
      </p:sp>
      <p:sp>
        <p:nvSpPr>
          <p:cNvPr id="12" name="Text 10"/>
          <p:cNvSpPr/>
          <p:nvPr/>
        </p:nvSpPr>
        <p:spPr>
          <a:xfrm>
            <a:off x="2754630" y="4251960"/>
            <a:ext cx="2148840" cy="914400"/>
          </a:xfrm>
          <a:prstGeom prst="rect">
            <a:avLst/>
          </a:prstGeom>
          <a:noFill/>
          <a:ln/>
        </p:spPr>
        <p:txBody>
          <a:bodyPr wrap="square" rtlCol="0" anchor="ctr"/>
          <a:lstStyle/>
          <a:p>
            <a:pPr marL="0" indent="0" algn="ctr">
              <a:buNone/>
            </a:pPr>
            <a:r>
              <a:rPr lang="en-US" sz="1600" dirty="0">
                <a:solidFill>
                  <a:srgbClr val="45556E"/>
                </a:solidFill>
                <a:latin typeface="Calibri" pitchFamily="34" charset="0"/>
                <a:ea typeface="Calibri" pitchFamily="34" charset="-122"/>
                <a:cs typeface="Calibri" pitchFamily="34" charset="-120"/>
              </a:rPr>
              <a:t>ΣFx, ΣM, ΣFy → reaction forces</a:t>
            </a:r>
            <a:endParaRPr lang="en-US" sz="1600" dirty="0"/>
          </a:p>
        </p:txBody>
      </p:sp>
      <p:sp>
        <p:nvSpPr>
          <p:cNvPr id="13" name="Shape 11"/>
          <p:cNvSpPr/>
          <p:nvPr/>
        </p:nvSpPr>
        <p:spPr>
          <a:xfrm>
            <a:off x="5669280" y="2834640"/>
            <a:ext cx="822960" cy="822960"/>
          </a:xfrm>
          <a:prstGeom prst="ellipse">
            <a:avLst/>
          </a:prstGeom>
          <a:solidFill>
            <a:srgbClr val="18233C"/>
          </a:solidFill>
          <a:ln w="12700">
            <a:solidFill>
              <a:srgbClr val="18233C"/>
            </a:solidFill>
            <a:prstDash val="solid"/>
          </a:ln>
        </p:spPr>
        <p:txBody>
          <a:bodyPr/>
          <a:lstStyle/>
          <a:p>
            <a:endParaRPr lang="en-US" sz="2800"/>
          </a:p>
        </p:txBody>
      </p:sp>
      <p:sp>
        <p:nvSpPr>
          <p:cNvPr id="14" name="Text 12"/>
          <p:cNvSpPr/>
          <p:nvPr/>
        </p:nvSpPr>
        <p:spPr>
          <a:xfrm>
            <a:off x="5669280" y="2834640"/>
            <a:ext cx="822960" cy="82296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03</a:t>
            </a:r>
            <a:endParaRPr lang="en-US" sz="3200" dirty="0"/>
          </a:p>
        </p:txBody>
      </p:sp>
      <p:sp>
        <p:nvSpPr>
          <p:cNvPr id="15" name="Text 13"/>
          <p:cNvSpPr/>
          <p:nvPr/>
        </p:nvSpPr>
        <p:spPr>
          <a:xfrm>
            <a:off x="5006340" y="3794760"/>
            <a:ext cx="2148840" cy="502920"/>
          </a:xfrm>
          <a:prstGeom prst="rect">
            <a:avLst/>
          </a:prstGeom>
          <a:noFill/>
          <a:ln/>
        </p:spPr>
        <p:txBody>
          <a:bodyPr wrap="square" rtlCol="0" anchor="ctr"/>
          <a:lstStyle/>
          <a:p>
            <a:pPr marL="0" indent="0" algn="ctr">
              <a:buNone/>
            </a:pPr>
            <a:r>
              <a:rPr lang="en-US" b="1" dirty="0">
                <a:solidFill>
                  <a:srgbClr val="18233C"/>
                </a:solidFill>
                <a:latin typeface="Cambria" pitchFamily="34" charset="0"/>
                <a:ea typeface="Cambria" pitchFamily="34" charset="-122"/>
                <a:cs typeface="Cambria" pitchFamily="34" charset="-120"/>
              </a:rPr>
              <a:t>Method of Joints</a:t>
            </a:r>
            <a:endParaRPr lang="en-US" dirty="0"/>
          </a:p>
        </p:txBody>
      </p:sp>
      <p:sp>
        <p:nvSpPr>
          <p:cNvPr id="16" name="Text 14"/>
          <p:cNvSpPr/>
          <p:nvPr/>
        </p:nvSpPr>
        <p:spPr>
          <a:xfrm>
            <a:off x="5006340" y="4251960"/>
            <a:ext cx="2148840" cy="914400"/>
          </a:xfrm>
          <a:prstGeom prst="rect">
            <a:avLst/>
          </a:prstGeom>
          <a:noFill/>
          <a:ln/>
        </p:spPr>
        <p:txBody>
          <a:bodyPr wrap="square" rtlCol="0" anchor="ctr"/>
          <a:lstStyle/>
          <a:p>
            <a:pPr marL="0" indent="0" algn="ctr">
              <a:buNone/>
            </a:pPr>
            <a:r>
              <a:rPr lang="en-US" sz="1600" dirty="0">
                <a:solidFill>
                  <a:srgbClr val="45556E"/>
                </a:solidFill>
                <a:latin typeface="Calibri" pitchFamily="34" charset="0"/>
                <a:ea typeface="Calibri" pitchFamily="34" charset="-122"/>
                <a:cs typeface="Calibri" pitchFamily="34" charset="-120"/>
              </a:rPr>
              <a:t>Solve joint A → B → C for member forces</a:t>
            </a:r>
            <a:endParaRPr lang="en-US" sz="1600" dirty="0"/>
          </a:p>
        </p:txBody>
      </p:sp>
      <p:sp>
        <p:nvSpPr>
          <p:cNvPr id="17" name="Shape 15"/>
          <p:cNvSpPr/>
          <p:nvPr/>
        </p:nvSpPr>
        <p:spPr>
          <a:xfrm>
            <a:off x="7920990" y="2834640"/>
            <a:ext cx="822960" cy="822960"/>
          </a:xfrm>
          <a:prstGeom prst="ellipse">
            <a:avLst/>
          </a:prstGeom>
          <a:solidFill>
            <a:srgbClr val="18233C"/>
          </a:solidFill>
          <a:ln w="12700">
            <a:solidFill>
              <a:srgbClr val="18233C"/>
            </a:solidFill>
            <a:prstDash val="solid"/>
          </a:ln>
        </p:spPr>
        <p:txBody>
          <a:bodyPr/>
          <a:lstStyle/>
          <a:p>
            <a:endParaRPr lang="en-US" sz="2800"/>
          </a:p>
        </p:txBody>
      </p:sp>
      <p:sp>
        <p:nvSpPr>
          <p:cNvPr id="18" name="Text 16"/>
          <p:cNvSpPr/>
          <p:nvPr/>
        </p:nvSpPr>
        <p:spPr>
          <a:xfrm>
            <a:off x="7920990" y="2834640"/>
            <a:ext cx="822960" cy="82296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04</a:t>
            </a:r>
            <a:endParaRPr lang="en-US" sz="3200" dirty="0"/>
          </a:p>
        </p:txBody>
      </p:sp>
      <p:sp>
        <p:nvSpPr>
          <p:cNvPr id="19" name="Text 17"/>
          <p:cNvSpPr/>
          <p:nvPr/>
        </p:nvSpPr>
        <p:spPr>
          <a:xfrm>
            <a:off x="7258050" y="3794760"/>
            <a:ext cx="2148840" cy="502920"/>
          </a:xfrm>
          <a:prstGeom prst="rect">
            <a:avLst/>
          </a:prstGeom>
          <a:noFill/>
          <a:ln/>
        </p:spPr>
        <p:txBody>
          <a:bodyPr wrap="square" rtlCol="0" anchor="ctr"/>
          <a:lstStyle/>
          <a:p>
            <a:pPr marL="0" indent="0" algn="ctr">
              <a:buNone/>
            </a:pPr>
            <a:r>
              <a:rPr lang="en-US" b="1" dirty="0">
                <a:solidFill>
                  <a:srgbClr val="18233C"/>
                </a:solidFill>
                <a:latin typeface="Cambria" pitchFamily="34" charset="0"/>
                <a:ea typeface="Cambria" pitchFamily="34" charset="-122"/>
                <a:cs typeface="Cambria" pitchFamily="34" charset="-120"/>
              </a:rPr>
              <a:t>Tabulate &amp; Plot</a:t>
            </a:r>
            <a:endParaRPr lang="en-US" dirty="0"/>
          </a:p>
        </p:txBody>
      </p:sp>
      <p:sp>
        <p:nvSpPr>
          <p:cNvPr id="20" name="Text 18"/>
          <p:cNvSpPr/>
          <p:nvPr/>
        </p:nvSpPr>
        <p:spPr>
          <a:xfrm>
            <a:off x="7258050" y="4251960"/>
            <a:ext cx="2148840" cy="914400"/>
          </a:xfrm>
          <a:prstGeom prst="rect">
            <a:avLst/>
          </a:prstGeom>
          <a:noFill/>
          <a:ln/>
        </p:spPr>
        <p:txBody>
          <a:bodyPr wrap="square" rtlCol="0" anchor="ctr"/>
          <a:lstStyle/>
          <a:p>
            <a:pPr marL="0" indent="0" algn="ctr">
              <a:buNone/>
            </a:pPr>
            <a:r>
              <a:rPr lang="en-US" sz="1600" dirty="0">
                <a:solidFill>
                  <a:srgbClr val="45556E"/>
                </a:solidFill>
                <a:latin typeface="Calibri" pitchFamily="34" charset="0"/>
                <a:ea typeface="Calibri" pitchFamily="34" charset="-122"/>
                <a:cs typeface="Calibri" pitchFamily="34" charset="-120"/>
              </a:rPr>
              <a:t>Compile reactions &amp; internal forces</a:t>
            </a:r>
            <a:endParaRPr lang="en-US" sz="1600" dirty="0"/>
          </a:p>
        </p:txBody>
      </p:sp>
      <p:sp>
        <p:nvSpPr>
          <p:cNvPr id="21" name="Shape 19"/>
          <p:cNvSpPr/>
          <p:nvPr/>
        </p:nvSpPr>
        <p:spPr>
          <a:xfrm>
            <a:off x="10172700" y="2834640"/>
            <a:ext cx="822960" cy="822960"/>
          </a:xfrm>
          <a:prstGeom prst="ellipse">
            <a:avLst/>
          </a:prstGeom>
          <a:solidFill>
            <a:srgbClr val="E8912D"/>
          </a:solidFill>
          <a:ln w="12700">
            <a:solidFill>
              <a:srgbClr val="E8912D"/>
            </a:solidFill>
            <a:prstDash val="solid"/>
          </a:ln>
        </p:spPr>
        <p:txBody>
          <a:bodyPr/>
          <a:lstStyle/>
          <a:p>
            <a:endParaRPr lang="en-US" sz="2800"/>
          </a:p>
        </p:txBody>
      </p:sp>
      <p:sp>
        <p:nvSpPr>
          <p:cNvPr id="22" name="Text 20"/>
          <p:cNvSpPr/>
          <p:nvPr/>
        </p:nvSpPr>
        <p:spPr>
          <a:xfrm>
            <a:off x="10172700" y="2834640"/>
            <a:ext cx="822960" cy="822960"/>
          </a:xfrm>
          <a:prstGeom prst="rect">
            <a:avLst/>
          </a:prstGeom>
          <a:noFill/>
          <a:ln/>
        </p:spPr>
        <p:txBody>
          <a:bodyPr wrap="square" rtlCol="0" anchor="ctr"/>
          <a:lstStyle/>
          <a:p>
            <a:pPr marL="0" indent="0" algn="ctr">
              <a:buNone/>
            </a:pPr>
            <a:r>
              <a:rPr lang="en-US" sz="3200" b="1" dirty="0">
                <a:solidFill>
                  <a:srgbClr val="18233C"/>
                </a:solidFill>
                <a:latin typeface="Cambria" pitchFamily="34" charset="0"/>
                <a:ea typeface="Cambria" pitchFamily="34" charset="-122"/>
                <a:cs typeface="Cambria" pitchFamily="34" charset="-120"/>
              </a:rPr>
              <a:t>05</a:t>
            </a:r>
            <a:endParaRPr lang="en-US" sz="3200" dirty="0"/>
          </a:p>
        </p:txBody>
      </p:sp>
      <p:sp>
        <p:nvSpPr>
          <p:cNvPr id="23" name="Text 21"/>
          <p:cNvSpPr/>
          <p:nvPr/>
        </p:nvSpPr>
        <p:spPr>
          <a:xfrm>
            <a:off x="9509760" y="3794760"/>
            <a:ext cx="2148840" cy="502920"/>
          </a:xfrm>
          <a:prstGeom prst="rect">
            <a:avLst/>
          </a:prstGeom>
          <a:noFill/>
          <a:ln/>
        </p:spPr>
        <p:txBody>
          <a:bodyPr wrap="square" rtlCol="0" anchor="ctr"/>
          <a:lstStyle/>
          <a:p>
            <a:pPr marL="0" indent="0" algn="ctr">
              <a:buNone/>
            </a:pPr>
            <a:r>
              <a:rPr lang="en-US" b="1" dirty="0">
                <a:solidFill>
                  <a:srgbClr val="18233C"/>
                </a:solidFill>
                <a:latin typeface="Cambria" pitchFamily="34" charset="0"/>
                <a:ea typeface="Cambria" pitchFamily="34" charset="-122"/>
                <a:cs typeface="Cambria" pitchFamily="34" charset="-120"/>
              </a:rPr>
              <a:t>ANSYS Verification</a:t>
            </a:r>
            <a:endParaRPr lang="en-US" dirty="0"/>
          </a:p>
        </p:txBody>
      </p:sp>
      <p:sp>
        <p:nvSpPr>
          <p:cNvPr id="24" name="Text 22"/>
          <p:cNvSpPr/>
          <p:nvPr/>
        </p:nvSpPr>
        <p:spPr>
          <a:xfrm>
            <a:off x="9509760" y="4251960"/>
            <a:ext cx="2148840" cy="914400"/>
          </a:xfrm>
          <a:prstGeom prst="rect">
            <a:avLst/>
          </a:prstGeom>
          <a:noFill/>
          <a:ln/>
        </p:spPr>
        <p:txBody>
          <a:bodyPr wrap="square" rtlCol="0" anchor="ctr"/>
          <a:lstStyle/>
          <a:p>
            <a:pPr marL="0" indent="0" algn="ctr">
              <a:buNone/>
            </a:pPr>
            <a:r>
              <a:rPr lang="en-US" sz="1600" dirty="0">
                <a:solidFill>
                  <a:srgbClr val="45556E"/>
                </a:solidFill>
                <a:latin typeface="Calibri" pitchFamily="34" charset="0"/>
                <a:ea typeface="Calibri" pitchFamily="34" charset="-122"/>
                <a:cs typeface="Calibri" pitchFamily="34" charset="-120"/>
              </a:rPr>
              <a:t>Simulate and compare against hand calc</a:t>
            </a:r>
            <a:endParaRPr lang="en-US" sz="1600" dirty="0"/>
          </a:p>
        </p:txBody>
      </p:sp>
      <p:sp>
        <p:nvSpPr>
          <p:cNvPr id="25" name="Text 23"/>
          <p:cNvSpPr/>
          <p:nvPr/>
        </p:nvSpPr>
        <p:spPr>
          <a:xfrm>
            <a:off x="457200" y="6473952"/>
            <a:ext cx="5486400" cy="274320"/>
          </a:xfrm>
          <a:prstGeom prst="rect">
            <a:avLst/>
          </a:prstGeom>
          <a:noFill/>
          <a:ln/>
        </p:spPr>
        <p:txBody>
          <a:bodyPr wrap="square" rtlCol="0" anchor="ctr"/>
          <a:lstStyle/>
          <a:p>
            <a:pPr marL="0" indent="0" algn="l">
              <a:buNone/>
            </a:pPr>
            <a:r>
              <a:rPr lang="en-US" sz="1100" dirty="0">
                <a:solidFill>
                  <a:srgbClr val="45556E"/>
                </a:solidFill>
                <a:latin typeface="Calibri" pitchFamily="34" charset="0"/>
                <a:ea typeface="Calibri" pitchFamily="34" charset="-122"/>
                <a:cs typeface="Calibri" pitchFamily="34" charset="-120"/>
              </a:rPr>
              <a:t>Frais Asghar  |  NUST · SMME</a:t>
            </a:r>
            <a:endParaRPr lang="en-US" sz="1100" dirty="0"/>
          </a:p>
        </p:txBody>
      </p:sp>
      <p:sp>
        <p:nvSpPr>
          <p:cNvPr id="26" name="Text 24"/>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45556E"/>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buNone/>
            </a:pPr>
            <a:r>
              <a:rPr lang="en-US" sz="3600" b="1" dirty="0">
                <a:solidFill>
                  <a:srgbClr val="18233C"/>
                </a:solidFill>
                <a:latin typeface="Cambria" pitchFamily="34" charset="0"/>
                <a:ea typeface="Cambria" pitchFamily="34" charset="-122"/>
                <a:cs typeface="Cambria" pitchFamily="34" charset="-120"/>
              </a:rPr>
              <a:t>External Reaction Forces</a:t>
            </a:r>
            <a:endParaRPr lang="en-US" sz="3600" dirty="0"/>
          </a:p>
        </p:txBody>
      </p:sp>
      <p:sp>
        <p:nvSpPr>
          <p:cNvPr id="3" name="Text 1"/>
          <p:cNvSpPr/>
          <p:nvPr/>
        </p:nvSpPr>
        <p:spPr>
          <a:xfrm>
            <a:off x="548640" y="896112"/>
            <a:ext cx="11091672" cy="320040"/>
          </a:xfrm>
          <a:prstGeom prst="rect">
            <a:avLst/>
          </a:prstGeom>
          <a:noFill/>
          <a:ln/>
        </p:spPr>
        <p:txBody>
          <a:bodyPr wrap="square" rtlCol="0" anchor="ctr"/>
          <a:lstStyle/>
          <a:p>
            <a:pPr marL="0" indent="0">
              <a:buNone/>
            </a:pPr>
            <a:r>
              <a:rPr lang="en-US" sz="1600" i="1" dirty="0">
                <a:solidFill>
                  <a:srgbClr val="5B7B9C"/>
                </a:solidFill>
                <a:latin typeface="Calibri" pitchFamily="34" charset="0"/>
                <a:ea typeface="Calibri" pitchFamily="34" charset="-122"/>
                <a:cs typeface="Calibri" pitchFamily="34" charset="-120"/>
              </a:rPr>
              <a:t>Whole-truss equilibrium equations</a:t>
            </a:r>
            <a:endParaRPr lang="en-US" sz="1600" dirty="0"/>
          </a:p>
        </p:txBody>
      </p:sp>
      <p:sp>
        <p:nvSpPr>
          <p:cNvPr id="4" name="Shape 2"/>
          <p:cNvSpPr/>
          <p:nvPr/>
        </p:nvSpPr>
        <p:spPr>
          <a:xfrm>
            <a:off x="548640" y="1600200"/>
            <a:ext cx="6492240" cy="914400"/>
          </a:xfrm>
          <a:prstGeom prst="roundRect">
            <a:avLst>
              <a:gd name="adj" fmla="val 6000"/>
            </a:avLst>
          </a:prstGeom>
          <a:ln/>
        </p:spPr>
        <p:style>
          <a:lnRef idx="1">
            <a:schemeClr val="accent6"/>
          </a:lnRef>
          <a:fillRef idx="3">
            <a:schemeClr val="accent6"/>
          </a:fillRef>
          <a:effectRef idx="2">
            <a:schemeClr val="accent6"/>
          </a:effectRef>
          <a:fontRef idx="minor">
            <a:schemeClr val="lt1"/>
          </a:fontRef>
        </p:style>
        <p:txBody>
          <a:bodyPr/>
          <a:lstStyle/>
          <a:p>
            <a:endParaRPr lang="en-US" sz="2400"/>
          </a:p>
        </p:txBody>
      </p:sp>
      <p:sp>
        <p:nvSpPr>
          <p:cNvPr id="5" name="Text 3"/>
          <p:cNvSpPr/>
          <p:nvPr/>
        </p:nvSpPr>
        <p:spPr>
          <a:xfrm>
            <a:off x="777240" y="1600200"/>
            <a:ext cx="1463040" cy="914400"/>
          </a:xfrm>
          <a:prstGeom prst="rect">
            <a:avLst/>
          </a:prstGeom>
          <a:noFill/>
          <a:ln/>
        </p:spPr>
        <p:txBody>
          <a:bodyPr wrap="square" rtlCol="0" anchor="ctr"/>
          <a:lstStyle/>
          <a:p>
            <a:pPr marL="0" indent="0">
              <a:buNone/>
            </a:pPr>
            <a:r>
              <a:rPr lang="en-US" sz="2000" b="1" dirty="0">
                <a:solidFill>
                  <a:srgbClr val="18233C"/>
                </a:solidFill>
                <a:latin typeface="Cambria" pitchFamily="34" charset="0"/>
                <a:ea typeface="Cambria" pitchFamily="34" charset="-122"/>
                <a:cs typeface="Cambria" pitchFamily="34" charset="-120"/>
              </a:rPr>
              <a:t>ΣFx = 0</a:t>
            </a:r>
            <a:endParaRPr lang="en-US" sz="2000" dirty="0"/>
          </a:p>
        </p:txBody>
      </p:sp>
      <p:sp>
        <p:nvSpPr>
          <p:cNvPr id="6" name="Text 4"/>
          <p:cNvSpPr/>
          <p:nvPr/>
        </p:nvSpPr>
        <p:spPr>
          <a:xfrm>
            <a:off x="2240280" y="1600200"/>
            <a:ext cx="4663440" cy="914400"/>
          </a:xfrm>
          <a:prstGeom prst="rect">
            <a:avLst/>
          </a:prstGeom>
          <a:noFill/>
          <a:ln/>
        </p:spPr>
        <p:txBody>
          <a:bodyPr wrap="square" rtlCol="0" anchor="ctr"/>
          <a:lstStyle/>
          <a:p>
            <a:pPr marL="0" indent="0">
              <a:buNone/>
            </a:pPr>
            <a:r>
              <a:rPr lang="en-US" sz="2000" dirty="0">
                <a:solidFill>
                  <a:srgbClr val="45556E"/>
                </a:solidFill>
                <a:latin typeface="Calibri" pitchFamily="34" charset="0"/>
                <a:ea typeface="Calibri" pitchFamily="34" charset="-122"/>
                <a:cs typeface="Calibri" pitchFamily="34" charset="-120"/>
              </a:rPr>
              <a:t>300 − R</a:t>
            </a:r>
            <a:r>
              <a:rPr lang="en-US" dirty="0">
                <a:solidFill>
                  <a:srgbClr val="45556E"/>
                </a:solidFill>
                <a:latin typeface="Calibri" pitchFamily="34" charset="0"/>
                <a:ea typeface="Calibri" pitchFamily="34" charset="-122"/>
                <a:cs typeface="Calibri" pitchFamily="34" charset="-120"/>
              </a:rPr>
              <a:t>Cx </a:t>
            </a:r>
            <a:r>
              <a:rPr lang="en-US" sz="2000" dirty="0">
                <a:solidFill>
                  <a:srgbClr val="45556E"/>
                </a:solidFill>
                <a:latin typeface="Calibri" pitchFamily="34" charset="0"/>
                <a:ea typeface="Calibri" pitchFamily="34" charset="-122"/>
                <a:cs typeface="Calibri" pitchFamily="34" charset="-120"/>
              </a:rPr>
              <a:t>= 0  →  R</a:t>
            </a:r>
            <a:r>
              <a:rPr lang="en-US" dirty="0">
                <a:solidFill>
                  <a:srgbClr val="45556E"/>
                </a:solidFill>
                <a:latin typeface="Calibri" pitchFamily="34" charset="0"/>
                <a:ea typeface="Calibri" pitchFamily="34" charset="-122"/>
                <a:cs typeface="Calibri" pitchFamily="34" charset="-120"/>
              </a:rPr>
              <a:t>Cx </a:t>
            </a:r>
            <a:r>
              <a:rPr lang="en-US" sz="2000" dirty="0">
                <a:solidFill>
                  <a:srgbClr val="45556E"/>
                </a:solidFill>
                <a:latin typeface="Calibri" pitchFamily="34" charset="0"/>
                <a:ea typeface="Calibri" pitchFamily="34" charset="-122"/>
                <a:cs typeface="Calibri" pitchFamily="34" charset="-120"/>
              </a:rPr>
              <a:t>= 300 N (leftward)</a:t>
            </a:r>
            <a:endParaRPr lang="en-US" sz="2000" dirty="0"/>
          </a:p>
        </p:txBody>
      </p:sp>
      <p:sp>
        <p:nvSpPr>
          <p:cNvPr id="7" name="Shape 5"/>
          <p:cNvSpPr/>
          <p:nvPr/>
        </p:nvSpPr>
        <p:spPr>
          <a:xfrm>
            <a:off x="548640" y="2697480"/>
            <a:ext cx="6492240" cy="914400"/>
          </a:xfrm>
          <a:prstGeom prst="roundRect">
            <a:avLst>
              <a:gd name="adj" fmla="val 6000"/>
            </a:avLst>
          </a:prstGeom>
          <a:ln/>
        </p:spPr>
        <p:style>
          <a:lnRef idx="1">
            <a:schemeClr val="accent2"/>
          </a:lnRef>
          <a:fillRef idx="3">
            <a:schemeClr val="accent2"/>
          </a:fillRef>
          <a:effectRef idx="2">
            <a:schemeClr val="accent2"/>
          </a:effectRef>
          <a:fontRef idx="minor">
            <a:schemeClr val="lt1"/>
          </a:fontRef>
        </p:style>
        <p:txBody>
          <a:bodyPr/>
          <a:lstStyle/>
          <a:p>
            <a:endParaRPr lang="en-US" sz="2400"/>
          </a:p>
        </p:txBody>
      </p:sp>
      <p:sp>
        <p:nvSpPr>
          <p:cNvPr id="8" name="Text 6"/>
          <p:cNvSpPr/>
          <p:nvPr/>
        </p:nvSpPr>
        <p:spPr>
          <a:xfrm>
            <a:off x="777240" y="2697480"/>
            <a:ext cx="1463040" cy="914400"/>
          </a:xfrm>
          <a:prstGeom prst="rect">
            <a:avLst/>
          </a:prstGeom>
          <a:noFill/>
          <a:ln/>
        </p:spPr>
        <p:txBody>
          <a:bodyPr wrap="square" rtlCol="0" anchor="ctr"/>
          <a:lstStyle/>
          <a:p>
            <a:pPr marL="0" indent="0">
              <a:buNone/>
            </a:pPr>
            <a:r>
              <a:rPr lang="en-US" sz="2000" b="1" dirty="0">
                <a:solidFill>
                  <a:srgbClr val="18233C"/>
                </a:solidFill>
                <a:latin typeface="Cambria" pitchFamily="34" charset="0"/>
                <a:ea typeface="Cambria" pitchFamily="34" charset="-122"/>
                <a:cs typeface="Cambria" pitchFamily="34" charset="-120"/>
              </a:rPr>
              <a:t>ΣM_C = 0</a:t>
            </a:r>
            <a:endParaRPr lang="en-US" sz="2000" dirty="0"/>
          </a:p>
        </p:txBody>
      </p:sp>
      <p:sp>
        <p:nvSpPr>
          <p:cNvPr id="9" name="Text 7"/>
          <p:cNvSpPr/>
          <p:nvPr/>
        </p:nvSpPr>
        <p:spPr>
          <a:xfrm>
            <a:off x="2240280" y="2697480"/>
            <a:ext cx="4663440" cy="914400"/>
          </a:xfrm>
          <a:prstGeom prst="rect">
            <a:avLst/>
          </a:prstGeom>
          <a:noFill/>
          <a:ln/>
        </p:spPr>
        <p:txBody>
          <a:bodyPr wrap="square" rtlCol="0" anchor="ctr"/>
          <a:lstStyle/>
          <a:p>
            <a:pPr marL="0" indent="0">
              <a:buNone/>
            </a:pPr>
            <a:r>
              <a:rPr lang="en-US" sz="2000" dirty="0">
                <a:solidFill>
                  <a:srgbClr val="45556E"/>
                </a:solidFill>
                <a:latin typeface="Calibri" pitchFamily="34" charset="0"/>
                <a:ea typeface="Calibri" pitchFamily="34" charset="-122"/>
                <a:cs typeface="Calibri" pitchFamily="34" charset="-120"/>
              </a:rPr>
              <a:t>(</a:t>
            </a:r>
            <a:r>
              <a:rPr lang="en-US" sz="2000" dirty="0" err="1">
                <a:solidFill>
                  <a:srgbClr val="45556E"/>
                </a:solidFill>
                <a:latin typeface="Calibri" pitchFamily="34" charset="0"/>
                <a:ea typeface="Calibri" pitchFamily="34" charset="-122"/>
                <a:cs typeface="Calibri" pitchFamily="34" charset="-120"/>
              </a:rPr>
              <a:t>R</a:t>
            </a:r>
            <a:r>
              <a:rPr lang="en-US" dirty="0" err="1">
                <a:solidFill>
                  <a:srgbClr val="45556E"/>
                </a:solidFill>
                <a:latin typeface="Calibri" pitchFamily="34" charset="0"/>
                <a:ea typeface="Calibri" pitchFamily="34" charset="-122"/>
                <a:cs typeface="Calibri" pitchFamily="34" charset="-120"/>
              </a:rPr>
              <a:t>Ay</a:t>
            </a:r>
            <a:r>
              <a:rPr lang="en-US" sz="2000" dirty="0">
                <a:solidFill>
                  <a:srgbClr val="45556E"/>
                </a:solidFill>
                <a:latin typeface="Calibri" pitchFamily="34" charset="0"/>
                <a:ea typeface="Calibri" pitchFamily="34" charset="-122"/>
                <a:cs typeface="Calibri" pitchFamily="34" charset="-120"/>
              </a:rPr>
              <a:t>)(8) + (300)(4) = 0  →  </a:t>
            </a:r>
            <a:r>
              <a:rPr lang="en-US" sz="2000" dirty="0" err="1">
                <a:solidFill>
                  <a:srgbClr val="45556E"/>
                </a:solidFill>
                <a:latin typeface="Calibri" pitchFamily="34" charset="0"/>
                <a:ea typeface="Calibri" pitchFamily="34" charset="-122"/>
                <a:cs typeface="Calibri" pitchFamily="34" charset="-120"/>
              </a:rPr>
              <a:t>R</a:t>
            </a:r>
            <a:r>
              <a:rPr lang="en-US" dirty="0" err="1">
                <a:solidFill>
                  <a:srgbClr val="45556E"/>
                </a:solidFill>
                <a:latin typeface="Calibri" pitchFamily="34" charset="0"/>
                <a:ea typeface="Calibri" pitchFamily="34" charset="-122"/>
                <a:cs typeface="Calibri" pitchFamily="34" charset="-120"/>
              </a:rPr>
              <a:t>Ay</a:t>
            </a:r>
            <a:r>
              <a:rPr lang="en-US" dirty="0">
                <a:solidFill>
                  <a:srgbClr val="45556E"/>
                </a:solidFill>
                <a:latin typeface="Calibri" pitchFamily="34" charset="0"/>
                <a:ea typeface="Calibri" pitchFamily="34" charset="-122"/>
                <a:cs typeface="Calibri" pitchFamily="34" charset="-120"/>
              </a:rPr>
              <a:t> </a:t>
            </a:r>
            <a:r>
              <a:rPr lang="en-US" sz="2000" dirty="0">
                <a:solidFill>
                  <a:srgbClr val="45556E"/>
                </a:solidFill>
                <a:latin typeface="Calibri" pitchFamily="34" charset="0"/>
                <a:ea typeface="Calibri" pitchFamily="34" charset="-122"/>
                <a:cs typeface="Calibri" pitchFamily="34" charset="-120"/>
              </a:rPr>
              <a:t>= −150 N (150 N downward)</a:t>
            </a:r>
            <a:endParaRPr lang="en-US" sz="2000" dirty="0"/>
          </a:p>
        </p:txBody>
      </p:sp>
      <p:sp>
        <p:nvSpPr>
          <p:cNvPr id="10" name="Shape 8"/>
          <p:cNvSpPr/>
          <p:nvPr/>
        </p:nvSpPr>
        <p:spPr>
          <a:xfrm>
            <a:off x="548640" y="3794760"/>
            <a:ext cx="6492240" cy="914400"/>
          </a:xfrm>
          <a:prstGeom prst="roundRect">
            <a:avLst>
              <a:gd name="adj" fmla="val 6000"/>
            </a:avLst>
          </a:prstGeom>
          <a:ln/>
        </p:spPr>
        <p:style>
          <a:lnRef idx="1">
            <a:schemeClr val="dk1"/>
          </a:lnRef>
          <a:fillRef idx="2">
            <a:schemeClr val="dk1"/>
          </a:fillRef>
          <a:effectRef idx="1">
            <a:schemeClr val="dk1"/>
          </a:effectRef>
          <a:fontRef idx="minor">
            <a:schemeClr val="dk1"/>
          </a:fontRef>
        </p:style>
        <p:txBody>
          <a:bodyPr/>
          <a:lstStyle/>
          <a:p>
            <a:endParaRPr lang="en-US" sz="2400"/>
          </a:p>
        </p:txBody>
      </p:sp>
      <p:sp>
        <p:nvSpPr>
          <p:cNvPr id="11" name="Text 9"/>
          <p:cNvSpPr/>
          <p:nvPr/>
        </p:nvSpPr>
        <p:spPr>
          <a:xfrm>
            <a:off x="777240" y="3794760"/>
            <a:ext cx="1463040" cy="914400"/>
          </a:xfrm>
          <a:prstGeom prst="rect">
            <a:avLst/>
          </a:prstGeom>
          <a:noFill/>
          <a:ln/>
        </p:spPr>
        <p:txBody>
          <a:bodyPr wrap="square" rtlCol="0" anchor="ctr"/>
          <a:lstStyle/>
          <a:p>
            <a:pPr marL="0" indent="0">
              <a:buNone/>
            </a:pPr>
            <a:r>
              <a:rPr lang="en-US" sz="2000" b="1" dirty="0">
                <a:solidFill>
                  <a:srgbClr val="18233C"/>
                </a:solidFill>
                <a:latin typeface="Cambria" pitchFamily="34" charset="0"/>
                <a:ea typeface="Cambria" pitchFamily="34" charset="-122"/>
                <a:cs typeface="Cambria" pitchFamily="34" charset="-120"/>
              </a:rPr>
              <a:t>ΣFy = 0</a:t>
            </a:r>
            <a:endParaRPr lang="en-US" sz="2000" dirty="0"/>
          </a:p>
        </p:txBody>
      </p:sp>
      <p:sp>
        <p:nvSpPr>
          <p:cNvPr id="12" name="Text 10"/>
          <p:cNvSpPr/>
          <p:nvPr/>
        </p:nvSpPr>
        <p:spPr>
          <a:xfrm>
            <a:off x="2240280" y="3794760"/>
            <a:ext cx="4663440" cy="914400"/>
          </a:xfrm>
          <a:prstGeom prst="rect">
            <a:avLst/>
          </a:prstGeom>
          <a:noFill/>
          <a:ln/>
        </p:spPr>
        <p:txBody>
          <a:bodyPr wrap="square" rtlCol="0" anchor="ctr"/>
          <a:lstStyle/>
          <a:p>
            <a:pPr marL="0" indent="0">
              <a:buNone/>
            </a:pPr>
            <a:r>
              <a:rPr lang="en-US" sz="2000" dirty="0" err="1">
                <a:solidFill>
                  <a:srgbClr val="45556E"/>
                </a:solidFill>
                <a:latin typeface="Calibri" pitchFamily="34" charset="0"/>
                <a:ea typeface="Calibri" pitchFamily="34" charset="-122"/>
                <a:cs typeface="Calibri" pitchFamily="34" charset="-120"/>
              </a:rPr>
              <a:t>R</a:t>
            </a:r>
            <a:r>
              <a:rPr lang="en-US" dirty="0" err="1">
                <a:solidFill>
                  <a:srgbClr val="45556E"/>
                </a:solidFill>
                <a:latin typeface="Calibri" pitchFamily="34" charset="0"/>
                <a:ea typeface="Calibri" pitchFamily="34" charset="-122"/>
                <a:cs typeface="Calibri" pitchFamily="34" charset="-120"/>
              </a:rPr>
              <a:t>Ay</a:t>
            </a:r>
            <a:r>
              <a:rPr lang="en-US" dirty="0">
                <a:solidFill>
                  <a:srgbClr val="45556E"/>
                </a:solidFill>
                <a:latin typeface="Calibri" pitchFamily="34" charset="0"/>
                <a:ea typeface="Calibri" pitchFamily="34" charset="-122"/>
                <a:cs typeface="Calibri" pitchFamily="34" charset="-120"/>
              </a:rPr>
              <a:t> </a:t>
            </a:r>
            <a:r>
              <a:rPr lang="en-US" sz="2000" dirty="0">
                <a:solidFill>
                  <a:srgbClr val="45556E"/>
                </a:solidFill>
                <a:latin typeface="Calibri" pitchFamily="34" charset="0"/>
                <a:ea typeface="Calibri" pitchFamily="34" charset="-122"/>
                <a:cs typeface="Calibri" pitchFamily="34" charset="-120"/>
              </a:rPr>
              <a:t>+ </a:t>
            </a:r>
            <a:r>
              <a:rPr lang="en-US" sz="2000" dirty="0" err="1">
                <a:solidFill>
                  <a:srgbClr val="45556E"/>
                </a:solidFill>
                <a:latin typeface="Calibri" pitchFamily="34" charset="0"/>
                <a:ea typeface="Calibri" pitchFamily="34" charset="-122"/>
                <a:cs typeface="Calibri" pitchFamily="34" charset="-120"/>
              </a:rPr>
              <a:t>R</a:t>
            </a:r>
            <a:r>
              <a:rPr lang="en-US" dirty="0" err="1">
                <a:solidFill>
                  <a:srgbClr val="45556E"/>
                </a:solidFill>
                <a:latin typeface="Calibri" pitchFamily="34" charset="0"/>
                <a:ea typeface="Calibri" pitchFamily="34" charset="-122"/>
                <a:cs typeface="Calibri" pitchFamily="34" charset="-120"/>
              </a:rPr>
              <a:t>Cy</a:t>
            </a:r>
            <a:r>
              <a:rPr lang="en-US" dirty="0">
                <a:solidFill>
                  <a:srgbClr val="45556E"/>
                </a:solidFill>
                <a:latin typeface="Calibri" pitchFamily="34" charset="0"/>
                <a:ea typeface="Calibri" pitchFamily="34" charset="-122"/>
                <a:cs typeface="Calibri" pitchFamily="34" charset="-120"/>
              </a:rPr>
              <a:t> </a:t>
            </a:r>
            <a:r>
              <a:rPr lang="en-US" sz="2000" dirty="0">
                <a:solidFill>
                  <a:srgbClr val="45556E"/>
                </a:solidFill>
                <a:latin typeface="Calibri" pitchFamily="34" charset="0"/>
                <a:ea typeface="Calibri" pitchFamily="34" charset="-122"/>
                <a:cs typeface="Calibri" pitchFamily="34" charset="-120"/>
              </a:rPr>
              <a:t>= 0  →  </a:t>
            </a:r>
            <a:r>
              <a:rPr lang="en-US" sz="2000" dirty="0" err="1">
                <a:solidFill>
                  <a:srgbClr val="45556E"/>
                </a:solidFill>
                <a:latin typeface="Calibri" pitchFamily="34" charset="0"/>
                <a:ea typeface="Calibri" pitchFamily="34" charset="-122"/>
                <a:cs typeface="Calibri" pitchFamily="34" charset="-120"/>
              </a:rPr>
              <a:t>R</a:t>
            </a:r>
            <a:r>
              <a:rPr lang="en-US" dirty="0" err="1">
                <a:solidFill>
                  <a:srgbClr val="45556E"/>
                </a:solidFill>
                <a:latin typeface="Calibri" pitchFamily="34" charset="0"/>
                <a:ea typeface="Calibri" pitchFamily="34" charset="-122"/>
                <a:cs typeface="Calibri" pitchFamily="34" charset="-120"/>
              </a:rPr>
              <a:t>Cy</a:t>
            </a:r>
            <a:r>
              <a:rPr lang="en-US" dirty="0">
                <a:solidFill>
                  <a:srgbClr val="45556E"/>
                </a:solidFill>
                <a:latin typeface="Calibri" pitchFamily="34" charset="0"/>
                <a:ea typeface="Calibri" pitchFamily="34" charset="-122"/>
                <a:cs typeface="Calibri" pitchFamily="34" charset="-120"/>
              </a:rPr>
              <a:t> </a:t>
            </a:r>
            <a:r>
              <a:rPr lang="en-US" sz="2000" dirty="0">
                <a:solidFill>
                  <a:srgbClr val="45556E"/>
                </a:solidFill>
                <a:latin typeface="Calibri" pitchFamily="34" charset="0"/>
                <a:ea typeface="Calibri" pitchFamily="34" charset="-122"/>
                <a:cs typeface="Calibri" pitchFamily="34" charset="-120"/>
              </a:rPr>
              <a:t>= 150 N (upward)</a:t>
            </a:r>
            <a:endParaRPr lang="en-US" sz="2000" dirty="0"/>
          </a:p>
        </p:txBody>
      </p:sp>
      <p:sp>
        <p:nvSpPr>
          <p:cNvPr id="13" name="Shape 11"/>
          <p:cNvSpPr/>
          <p:nvPr/>
        </p:nvSpPr>
        <p:spPr>
          <a:xfrm>
            <a:off x="7360920" y="1600200"/>
            <a:ext cx="4279392" cy="1170432"/>
          </a:xfrm>
          <a:prstGeom prst="roundRect">
            <a:avLst>
              <a:gd name="adj" fmla="val 6250"/>
            </a:avLst>
          </a:prstGeom>
          <a:solidFill>
            <a:srgbClr val="18233C"/>
          </a:solidFill>
          <a:ln w="12700">
            <a:solidFill>
              <a:srgbClr val="18233C"/>
            </a:solidFill>
            <a:prstDash val="solid"/>
          </a:ln>
        </p:spPr>
        <p:txBody>
          <a:bodyPr/>
          <a:lstStyle/>
          <a:p>
            <a:endParaRPr lang="en-US" sz="2000"/>
          </a:p>
        </p:txBody>
      </p:sp>
      <p:sp>
        <p:nvSpPr>
          <p:cNvPr id="14" name="Text 12"/>
          <p:cNvSpPr/>
          <p:nvPr/>
        </p:nvSpPr>
        <p:spPr>
          <a:xfrm>
            <a:off x="7635240" y="1737360"/>
            <a:ext cx="1828800" cy="365760"/>
          </a:xfrm>
          <a:prstGeom prst="rect">
            <a:avLst/>
          </a:prstGeom>
          <a:noFill/>
          <a:ln/>
        </p:spPr>
        <p:txBody>
          <a:bodyPr wrap="square" rtlCol="0" anchor="ctr"/>
          <a:lstStyle/>
          <a:p>
            <a:pPr marL="0" indent="0">
              <a:buNone/>
            </a:pPr>
            <a:r>
              <a:rPr lang="en-US" sz="1600" dirty="0">
                <a:solidFill>
                  <a:srgbClr val="AFC3D6"/>
                </a:solidFill>
                <a:latin typeface="Calibri" pitchFamily="34" charset="0"/>
                <a:ea typeface="Calibri" pitchFamily="34" charset="-122"/>
                <a:cs typeface="Calibri" pitchFamily="34" charset="-120"/>
              </a:rPr>
              <a:t>R_Ay</a:t>
            </a:r>
            <a:endParaRPr lang="en-US" sz="1600" dirty="0"/>
          </a:p>
        </p:txBody>
      </p:sp>
      <p:sp>
        <p:nvSpPr>
          <p:cNvPr id="15" name="Text 13"/>
          <p:cNvSpPr/>
          <p:nvPr/>
        </p:nvSpPr>
        <p:spPr>
          <a:xfrm>
            <a:off x="7635240" y="2057400"/>
            <a:ext cx="210312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150 N</a:t>
            </a:r>
            <a:endParaRPr lang="en-US" sz="2800" dirty="0"/>
          </a:p>
        </p:txBody>
      </p:sp>
      <p:sp>
        <p:nvSpPr>
          <p:cNvPr id="16" name="Shape 14"/>
          <p:cNvSpPr/>
          <p:nvPr/>
        </p:nvSpPr>
        <p:spPr>
          <a:xfrm>
            <a:off x="10241280" y="1965960"/>
            <a:ext cx="1234440" cy="457200"/>
          </a:xfrm>
          <a:prstGeom prst="roundRect">
            <a:avLst>
              <a:gd name="adj" fmla="val 50000"/>
            </a:avLst>
          </a:prstGeom>
          <a:solidFill>
            <a:srgbClr val="E8912D"/>
          </a:solidFill>
          <a:ln w="12700">
            <a:solidFill>
              <a:srgbClr val="E8912D"/>
            </a:solidFill>
            <a:prstDash val="solid"/>
          </a:ln>
        </p:spPr>
        <p:txBody>
          <a:bodyPr/>
          <a:lstStyle/>
          <a:p>
            <a:endParaRPr lang="en-US" sz="2400"/>
          </a:p>
        </p:txBody>
      </p:sp>
      <p:sp>
        <p:nvSpPr>
          <p:cNvPr id="17" name="Text 15"/>
          <p:cNvSpPr/>
          <p:nvPr/>
        </p:nvSpPr>
        <p:spPr>
          <a:xfrm>
            <a:off x="10241280" y="1965960"/>
            <a:ext cx="1234440" cy="457200"/>
          </a:xfrm>
          <a:prstGeom prst="rect">
            <a:avLst/>
          </a:prstGeom>
          <a:noFill/>
          <a:ln/>
        </p:spPr>
        <p:txBody>
          <a:bodyPr wrap="square" rtlCol="0" anchor="ctr"/>
          <a:lstStyle/>
          <a:p>
            <a:pPr marL="0" indent="0" algn="ctr">
              <a:buNone/>
            </a:pPr>
            <a:r>
              <a:rPr lang="en-US" sz="1200" b="1" dirty="0">
                <a:solidFill>
                  <a:srgbClr val="18233C"/>
                </a:solidFill>
                <a:latin typeface="Calibri" pitchFamily="34" charset="0"/>
                <a:ea typeface="Calibri" pitchFamily="34" charset="-122"/>
                <a:cs typeface="Calibri" pitchFamily="34" charset="-120"/>
              </a:rPr>
              <a:t>Downward</a:t>
            </a:r>
            <a:endParaRPr lang="en-US" sz="1200" dirty="0"/>
          </a:p>
        </p:txBody>
      </p:sp>
      <p:sp>
        <p:nvSpPr>
          <p:cNvPr id="18" name="Shape 16"/>
          <p:cNvSpPr/>
          <p:nvPr/>
        </p:nvSpPr>
        <p:spPr>
          <a:xfrm>
            <a:off x="7360920" y="2953512"/>
            <a:ext cx="4279392" cy="1170432"/>
          </a:xfrm>
          <a:prstGeom prst="roundRect">
            <a:avLst>
              <a:gd name="adj" fmla="val 6250"/>
            </a:avLst>
          </a:prstGeom>
          <a:solidFill>
            <a:srgbClr val="18233C"/>
          </a:solidFill>
          <a:ln w="12700">
            <a:solidFill>
              <a:srgbClr val="18233C"/>
            </a:solidFill>
            <a:prstDash val="solid"/>
          </a:ln>
        </p:spPr>
        <p:txBody>
          <a:bodyPr/>
          <a:lstStyle/>
          <a:p>
            <a:endParaRPr lang="en-US" sz="2400"/>
          </a:p>
        </p:txBody>
      </p:sp>
      <p:sp>
        <p:nvSpPr>
          <p:cNvPr id="19" name="Text 17"/>
          <p:cNvSpPr/>
          <p:nvPr/>
        </p:nvSpPr>
        <p:spPr>
          <a:xfrm>
            <a:off x="7635240" y="3090672"/>
            <a:ext cx="1828800" cy="365760"/>
          </a:xfrm>
          <a:prstGeom prst="rect">
            <a:avLst/>
          </a:prstGeom>
          <a:noFill/>
          <a:ln/>
        </p:spPr>
        <p:txBody>
          <a:bodyPr wrap="square" rtlCol="0" anchor="ctr"/>
          <a:lstStyle/>
          <a:p>
            <a:pPr marL="0" indent="0">
              <a:buNone/>
            </a:pPr>
            <a:r>
              <a:rPr lang="en-US" sz="1600" dirty="0">
                <a:solidFill>
                  <a:srgbClr val="AFC3D6"/>
                </a:solidFill>
                <a:latin typeface="Calibri" pitchFamily="34" charset="0"/>
                <a:ea typeface="Calibri" pitchFamily="34" charset="-122"/>
                <a:cs typeface="Calibri" pitchFamily="34" charset="-120"/>
              </a:rPr>
              <a:t>R_Cx</a:t>
            </a:r>
            <a:endParaRPr lang="en-US" sz="1600" dirty="0"/>
          </a:p>
        </p:txBody>
      </p:sp>
      <p:sp>
        <p:nvSpPr>
          <p:cNvPr id="20" name="Text 18"/>
          <p:cNvSpPr/>
          <p:nvPr/>
        </p:nvSpPr>
        <p:spPr>
          <a:xfrm>
            <a:off x="7635240" y="3410712"/>
            <a:ext cx="210312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300 N</a:t>
            </a:r>
            <a:endParaRPr lang="en-US" sz="2800" dirty="0"/>
          </a:p>
        </p:txBody>
      </p:sp>
      <p:sp>
        <p:nvSpPr>
          <p:cNvPr id="21" name="Shape 19"/>
          <p:cNvSpPr/>
          <p:nvPr/>
        </p:nvSpPr>
        <p:spPr>
          <a:xfrm>
            <a:off x="10241280" y="3319272"/>
            <a:ext cx="1234440" cy="457200"/>
          </a:xfrm>
          <a:prstGeom prst="roundRect">
            <a:avLst>
              <a:gd name="adj" fmla="val 50000"/>
            </a:avLst>
          </a:prstGeom>
          <a:solidFill>
            <a:srgbClr val="E8912D"/>
          </a:solidFill>
          <a:ln w="12700">
            <a:solidFill>
              <a:srgbClr val="E8912D"/>
            </a:solidFill>
            <a:prstDash val="solid"/>
          </a:ln>
        </p:spPr>
        <p:txBody>
          <a:bodyPr/>
          <a:lstStyle/>
          <a:p>
            <a:endParaRPr lang="en-US" sz="2400"/>
          </a:p>
        </p:txBody>
      </p:sp>
      <p:sp>
        <p:nvSpPr>
          <p:cNvPr id="22" name="Text 20"/>
          <p:cNvSpPr/>
          <p:nvPr/>
        </p:nvSpPr>
        <p:spPr>
          <a:xfrm>
            <a:off x="10241280" y="3319272"/>
            <a:ext cx="1234440" cy="457200"/>
          </a:xfrm>
          <a:prstGeom prst="rect">
            <a:avLst/>
          </a:prstGeom>
          <a:noFill/>
          <a:ln/>
        </p:spPr>
        <p:txBody>
          <a:bodyPr wrap="square" rtlCol="0" anchor="ctr"/>
          <a:lstStyle/>
          <a:p>
            <a:pPr marL="0" indent="0" algn="ctr">
              <a:buNone/>
            </a:pPr>
            <a:r>
              <a:rPr lang="en-US" sz="1200" b="1" dirty="0">
                <a:solidFill>
                  <a:srgbClr val="18233C"/>
                </a:solidFill>
                <a:latin typeface="Calibri" pitchFamily="34" charset="0"/>
                <a:ea typeface="Calibri" pitchFamily="34" charset="-122"/>
                <a:cs typeface="Calibri" pitchFamily="34" charset="-120"/>
              </a:rPr>
              <a:t>Leftward</a:t>
            </a:r>
            <a:endParaRPr lang="en-US" sz="1200" dirty="0"/>
          </a:p>
        </p:txBody>
      </p:sp>
      <p:sp>
        <p:nvSpPr>
          <p:cNvPr id="23" name="Shape 21"/>
          <p:cNvSpPr/>
          <p:nvPr/>
        </p:nvSpPr>
        <p:spPr>
          <a:xfrm>
            <a:off x="7360920" y="4306824"/>
            <a:ext cx="4279392" cy="1170432"/>
          </a:xfrm>
          <a:prstGeom prst="roundRect">
            <a:avLst>
              <a:gd name="adj" fmla="val 6250"/>
            </a:avLst>
          </a:prstGeom>
          <a:solidFill>
            <a:srgbClr val="18233C"/>
          </a:solidFill>
          <a:ln w="12700">
            <a:solidFill>
              <a:srgbClr val="18233C"/>
            </a:solidFill>
            <a:prstDash val="solid"/>
          </a:ln>
        </p:spPr>
        <p:txBody>
          <a:bodyPr/>
          <a:lstStyle/>
          <a:p>
            <a:endParaRPr lang="en-US" sz="2400"/>
          </a:p>
        </p:txBody>
      </p:sp>
      <p:sp>
        <p:nvSpPr>
          <p:cNvPr id="24" name="Text 22"/>
          <p:cNvSpPr/>
          <p:nvPr/>
        </p:nvSpPr>
        <p:spPr>
          <a:xfrm>
            <a:off x="7635240" y="4443984"/>
            <a:ext cx="1828800" cy="365760"/>
          </a:xfrm>
          <a:prstGeom prst="rect">
            <a:avLst/>
          </a:prstGeom>
          <a:noFill/>
          <a:ln/>
        </p:spPr>
        <p:txBody>
          <a:bodyPr wrap="square" rtlCol="0" anchor="ctr"/>
          <a:lstStyle/>
          <a:p>
            <a:pPr marL="0" indent="0">
              <a:buNone/>
            </a:pPr>
            <a:r>
              <a:rPr lang="en-US" sz="1600" dirty="0">
                <a:solidFill>
                  <a:srgbClr val="AFC3D6"/>
                </a:solidFill>
                <a:latin typeface="Calibri" pitchFamily="34" charset="0"/>
                <a:ea typeface="Calibri" pitchFamily="34" charset="-122"/>
                <a:cs typeface="Calibri" pitchFamily="34" charset="-120"/>
              </a:rPr>
              <a:t>R_Cy</a:t>
            </a:r>
            <a:endParaRPr lang="en-US" sz="1600" dirty="0"/>
          </a:p>
        </p:txBody>
      </p:sp>
      <p:sp>
        <p:nvSpPr>
          <p:cNvPr id="25" name="Text 23"/>
          <p:cNvSpPr/>
          <p:nvPr/>
        </p:nvSpPr>
        <p:spPr>
          <a:xfrm>
            <a:off x="7635240" y="4764024"/>
            <a:ext cx="210312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150 N</a:t>
            </a:r>
            <a:endParaRPr lang="en-US" sz="2800" dirty="0"/>
          </a:p>
        </p:txBody>
      </p:sp>
      <p:sp>
        <p:nvSpPr>
          <p:cNvPr id="26" name="Shape 24"/>
          <p:cNvSpPr/>
          <p:nvPr/>
        </p:nvSpPr>
        <p:spPr>
          <a:xfrm>
            <a:off x="10241280" y="4672584"/>
            <a:ext cx="1234440" cy="457200"/>
          </a:xfrm>
          <a:prstGeom prst="roundRect">
            <a:avLst>
              <a:gd name="adj" fmla="val 50000"/>
            </a:avLst>
          </a:prstGeom>
          <a:solidFill>
            <a:srgbClr val="E8912D"/>
          </a:solidFill>
          <a:ln w="12700">
            <a:solidFill>
              <a:srgbClr val="E8912D"/>
            </a:solidFill>
            <a:prstDash val="solid"/>
          </a:ln>
        </p:spPr>
        <p:txBody>
          <a:bodyPr/>
          <a:lstStyle/>
          <a:p>
            <a:endParaRPr lang="en-US" sz="2400"/>
          </a:p>
        </p:txBody>
      </p:sp>
      <p:sp>
        <p:nvSpPr>
          <p:cNvPr id="27" name="Text 25"/>
          <p:cNvSpPr/>
          <p:nvPr/>
        </p:nvSpPr>
        <p:spPr>
          <a:xfrm>
            <a:off x="10241280" y="4672584"/>
            <a:ext cx="1234440" cy="457200"/>
          </a:xfrm>
          <a:prstGeom prst="rect">
            <a:avLst/>
          </a:prstGeom>
          <a:noFill/>
          <a:ln/>
        </p:spPr>
        <p:txBody>
          <a:bodyPr wrap="square" rtlCol="0" anchor="ctr"/>
          <a:lstStyle/>
          <a:p>
            <a:pPr marL="0" indent="0" algn="ctr">
              <a:buNone/>
            </a:pPr>
            <a:r>
              <a:rPr lang="en-US" sz="1200" b="1" dirty="0">
                <a:solidFill>
                  <a:srgbClr val="18233C"/>
                </a:solidFill>
                <a:latin typeface="Calibri" pitchFamily="34" charset="0"/>
                <a:ea typeface="Calibri" pitchFamily="34" charset="-122"/>
                <a:cs typeface="Calibri" pitchFamily="34" charset="-120"/>
              </a:rPr>
              <a:t>Upward</a:t>
            </a:r>
            <a:endParaRPr lang="en-US" sz="1200" dirty="0"/>
          </a:p>
        </p:txBody>
      </p:sp>
      <p:sp>
        <p:nvSpPr>
          <p:cNvPr id="28" name="Text 26"/>
          <p:cNvSpPr/>
          <p:nvPr/>
        </p:nvSpPr>
        <p:spPr>
          <a:xfrm>
            <a:off x="457200" y="6473952"/>
            <a:ext cx="5486400" cy="274320"/>
          </a:xfrm>
          <a:prstGeom prst="rect">
            <a:avLst/>
          </a:prstGeom>
          <a:noFill/>
          <a:ln/>
        </p:spPr>
        <p:txBody>
          <a:bodyPr wrap="square" rtlCol="0" anchor="ctr"/>
          <a:lstStyle/>
          <a:p>
            <a:pPr marL="0" indent="0" algn="l">
              <a:buNone/>
            </a:pPr>
            <a:r>
              <a:rPr lang="en-US" sz="1050" dirty="0">
                <a:solidFill>
                  <a:srgbClr val="45556E"/>
                </a:solidFill>
                <a:latin typeface="Calibri" pitchFamily="34" charset="0"/>
                <a:ea typeface="Calibri" pitchFamily="34" charset="-122"/>
                <a:cs typeface="Calibri" pitchFamily="34" charset="-120"/>
              </a:rPr>
              <a:t>Frais Asghar  |  NUST · SMME</a:t>
            </a:r>
            <a:endParaRPr lang="en-US" sz="1050" dirty="0"/>
          </a:p>
        </p:txBody>
      </p:sp>
      <p:sp>
        <p:nvSpPr>
          <p:cNvPr id="29" name="Text 27"/>
          <p:cNvSpPr/>
          <p:nvPr/>
        </p:nvSpPr>
        <p:spPr>
          <a:xfrm>
            <a:off x="11274552" y="6473952"/>
            <a:ext cx="457200" cy="274320"/>
          </a:xfrm>
          <a:prstGeom prst="rect">
            <a:avLst/>
          </a:prstGeom>
          <a:noFill/>
          <a:ln/>
        </p:spPr>
        <p:txBody>
          <a:bodyPr wrap="square" rtlCol="0" anchor="ctr"/>
          <a:lstStyle/>
          <a:p>
            <a:pPr marL="0" indent="0" algn="r">
              <a:buNone/>
            </a:pPr>
            <a:r>
              <a:rPr lang="en-US" sz="1050" dirty="0">
                <a:solidFill>
                  <a:srgbClr val="45556E"/>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buNone/>
            </a:pPr>
            <a:r>
              <a:rPr lang="en-US" sz="3600" b="1" dirty="0">
                <a:solidFill>
                  <a:srgbClr val="18233C"/>
                </a:solidFill>
                <a:latin typeface="Cambria" pitchFamily="34" charset="0"/>
                <a:ea typeface="Cambria" pitchFamily="34" charset="-122"/>
                <a:cs typeface="Cambria" pitchFamily="34" charset="-120"/>
              </a:rPr>
              <a:t>Internal Forces. Method of Joints</a:t>
            </a:r>
            <a:endParaRPr lang="en-US" sz="3600" dirty="0"/>
          </a:p>
        </p:txBody>
      </p:sp>
      <p:sp>
        <p:nvSpPr>
          <p:cNvPr id="3" name="Text 1"/>
          <p:cNvSpPr/>
          <p:nvPr/>
        </p:nvSpPr>
        <p:spPr>
          <a:xfrm>
            <a:off x="548640" y="896112"/>
            <a:ext cx="11091672" cy="320040"/>
          </a:xfrm>
          <a:prstGeom prst="rect">
            <a:avLst/>
          </a:prstGeom>
          <a:noFill/>
          <a:ln/>
        </p:spPr>
        <p:txBody>
          <a:bodyPr wrap="square" rtlCol="0" anchor="ctr"/>
          <a:lstStyle/>
          <a:p>
            <a:pPr marL="0" indent="0">
              <a:buNone/>
            </a:pPr>
            <a:r>
              <a:rPr lang="en-US" sz="1600" i="1" dirty="0">
                <a:solidFill>
                  <a:srgbClr val="5B7B9C"/>
                </a:solidFill>
                <a:latin typeface="Calibri" pitchFamily="34" charset="0"/>
                <a:ea typeface="Calibri" pitchFamily="34" charset="-122"/>
                <a:cs typeface="Calibri" pitchFamily="34" charset="-120"/>
              </a:rPr>
              <a:t>Solved sequentially: Joint A → Joint B → Joint C</a:t>
            </a:r>
            <a:endParaRPr lang="en-US" sz="1600" dirty="0"/>
          </a:p>
        </p:txBody>
      </p:sp>
      <p:sp>
        <p:nvSpPr>
          <p:cNvPr id="4" name="Shape 2"/>
          <p:cNvSpPr/>
          <p:nvPr/>
        </p:nvSpPr>
        <p:spPr>
          <a:xfrm>
            <a:off x="548640" y="1554480"/>
            <a:ext cx="11091672" cy="1234440"/>
          </a:xfrm>
          <a:prstGeom prst="roundRect">
            <a:avLst>
              <a:gd name="adj" fmla="val 5185"/>
            </a:avLst>
          </a:prstGeom>
          <a:ln/>
        </p:spPr>
        <p:style>
          <a:lnRef idx="1">
            <a:schemeClr val="accent1"/>
          </a:lnRef>
          <a:fillRef idx="2">
            <a:schemeClr val="accent1"/>
          </a:fillRef>
          <a:effectRef idx="1">
            <a:schemeClr val="accent1"/>
          </a:effectRef>
          <a:fontRef idx="minor">
            <a:schemeClr val="dk1"/>
          </a:fontRef>
        </p:style>
        <p:txBody>
          <a:bodyPr/>
          <a:lstStyle/>
          <a:p>
            <a:endParaRPr lang="en-US" sz="2800"/>
          </a:p>
        </p:txBody>
      </p:sp>
      <p:sp>
        <p:nvSpPr>
          <p:cNvPr id="5" name="Shape 3"/>
          <p:cNvSpPr/>
          <p:nvPr/>
        </p:nvSpPr>
        <p:spPr>
          <a:xfrm>
            <a:off x="777240" y="1879092"/>
            <a:ext cx="585216" cy="585216"/>
          </a:xfrm>
          <a:prstGeom prst="ellipse">
            <a:avLst/>
          </a:prstGeom>
          <a:solidFill>
            <a:srgbClr val="18233C"/>
          </a:solidFill>
          <a:ln w="12700">
            <a:solidFill>
              <a:srgbClr val="18233C"/>
            </a:solidFill>
            <a:prstDash val="solid"/>
          </a:ln>
        </p:spPr>
        <p:txBody>
          <a:bodyPr/>
          <a:lstStyle/>
          <a:p>
            <a:endParaRPr lang="en-US" sz="2400"/>
          </a:p>
        </p:txBody>
      </p:sp>
      <p:sp>
        <p:nvSpPr>
          <p:cNvPr id="6" name="Text 4"/>
          <p:cNvSpPr/>
          <p:nvPr/>
        </p:nvSpPr>
        <p:spPr>
          <a:xfrm>
            <a:off x="777240" y="1879092"/>
            <a:ext cx="585216" cy="585216"/>
          </a:xfrm>
          <a:prstGeom prst="rect">
            <a:avLst/>
          </a:prstGeom>
          <a:noFill/>
          <a:ln/>
        </p:spPr>
        <p:txBody>
          <a:bodyPr wrap="square" rtlCol="0" anchor="ctr"/>
          <a:lstStyle/>
          <a:p>
            <a:pPr marL="0" indent="0" algn="ctr">
              <a:buNone/>
            </a:pPr>
            <a:r>
              <a:rPr lang="en-US" sz="2800" b="1" dirty="0">
                <a:solidFill>
                  <a:srgbClr val="E8912D"/>
                </a:solidFill>
                <a:latin typeface="Cambria" pitchFamily="34" charset="0"/>
                <a:ea typeface="Cambria" pitchFamily="34" charset="-122"/>
                <a:cs typeface="Cambria" pitchFamily="34" charset="-120"/>
              </a:rPr>
              <a:t>A</a:t>
            </a:r>
            <a:endParaRPr lang="en-US" sz="2800" dirty="0"/>
          </a:p>
        </p:txBody>
      </p:sp>
      <p:sp>
        <p:nvSpPr>
          <p:cNvPr id="7" name="Text 5"/>
          <p:cNvSpPr/>
          <p:nvPr/>
        </p:nvSpPr>
        <p:spPr>
          <a:xfrm>
            <a:off x="1600200" y="1645920"/>
            <a:ext cx="1828800" cy="365760"/>
          </a:xfrm>
          <a:prstGeom prst="rect">
            <a:avLst/>
          </a:prstGeom>
          <a:noFill/>
          <a:ln/>
        </p:spPr>
        <p:txBody>
          <a:bodyPr wrap="square" rtlCol="0" anchor="ctr"/>
          <a:lstStyle/>
          <a:p>
            <a:pPr marL="0" indent="0">
              <a:buNone/>
            </a:pPr>
            <a:r>
              <a:rPr lang="en-US" sz="2000" b="1" dirty="0">
                <a:solidFill>
                  <a:srgbClr val="18233C"/>
                </a:solidFill>
                <a:latin typeface="Cambria" pitchFamily="34" charset="0"/>
                <a:ea typeface="Cambria" pitchFamily="34" charset="-122"/>
                <a:cs typeface="Cambria" pitchFamily="34" charset="-120"/>
              </a:rPr>
              <a:t>Joint A</a:t>
            </a:r>
            <a:endParaRPr lang="en-US" sz="2000" dirty="0"/>
          </a:p>
        </p:txBody>
      </p:sp>
      <p:sp>
        <p:nvSpPr>
          <p:cNvPr id="8" name="Text 6"/>
          <p:cNvSpPr/>
          <p:nvPr/>
        </p:nvSpPr>
        <p:spPr>
          <a:xfrm>
            <a:off x="1600200" y="1965960"/>
            <a:ext cx="9784080" cy="777240"/>
          </a:xfrm>
          <a:prstGeom prst="rect">
            <a:avLst/>
          </a:prstGeom>
          <a:noFill/>
          <a:ln/>
        </p:spPr>
        <p:txBody>
          <a:bodyPr wrap="square" rtlCol="0" anchor="ctr"/>
          <a:lstStyle/>
          <a:p>
            <a:pPr marL="0" indent="0">
              <a:lnSpc>
                <a:spcPct val="125000"/>
              </a:lnSpc>
              <a:buNone/>
            </a:pPr>
            <a:r>
              <a:rPr lang="en-US" dirty="0">
                <a:solidFill>
                  <a:srgbClr val="45556E"/>
                </a:solidFill>
                <a:latin typeface="Calibri" pitchFamily="34" charset="0"/>
                <a:ea typeface="Calibri" pitchFamily="34" charset="-122"/>
                <a:cs typeface="Calibri" pitchFamily="34" charset="-120"/>
              </a:rPr>
              <a:t>Vertical: F</a:t>
            </a:r>
            <a:r>
              <a:rPr lang="en-US" sz="1600" dirty="0">
                <a:solidFill>
                  <a:srgbClr val="45556E"/>
                </a:solidFill>
                <a:latin typeface="Calibri" pitchFamily="34" charset="0"/>
                <a:ea typeface="Calibri" pitchFamily="34" charset="-122"/>
                <a:cs typeface="Calibri" pitchFamily="34" charset="-120"/>
              </a:rPr>
              <a:t>AD </a:t>
            </a:r>
            <a:r>
              <a:rPr lang="en-US" dirty="0">
                <a:solidFill>
                  <a:srgbClr val="45556E"/>
                </a:solidFill>
                <a:latin typeface="Calibri" pitchFamily="34" charset="0"/>
                <a:ea typeface="Calibri" pitchFamily="34" charset="-122"/>
                <a:cs typeface="Calibri" pitchFamily="34" charset="-120"/>
              </a:rPr>
              <a:t>sin45° − 150 = 0  →  F</a:t>
            </a:r>
            <a:r>
              <a:rPr lang="en-US" sz="1600" dirty="0">
                <a:solidFill>
                  <a:srgbClr val="45556E"/>
                </a:solidFill>
                <a:latin typeface="Calibri" pitchFamily="34" charset="0"/>
                <a:ea typeface="Calibri" pitchFamily="34" charset="-122"/>
                <a:cs typeface="Calibri" pitchFamily="34" charset="-120"/>
              </a:rPr>
              <a:t>AD </a:t>
            </a:r>
            <a:r>
              <a:rPr lang="en-US" dirty="0">
                <a:solidFill>
                  <a:srgbClr val="45556E"/>
                </a:solidFill>
                <a:latin typeface="Calibri" pitchFamily="34" charset="0"/>
                <a:ea typeface="Calibri" pitchFamily="34" charset="-122"/>
                <a:cs typeface="Calibri" pitchFamily="34" charset="-120"/>
              </a:rPr>
              <a:t>= 212.13 N (Tension)</a:t>
            </a:r>
            <a:endParaRPr lang="en-US" dirty="0"/>
          </a:p>
          <a:p>
            <a:pPr marL="0" indent="0">
              <a:lnSpc>
                <a:spcPct val="125000"/>
              </a:lnSpc>
              <a:buNone/>
            </a:pPr>
            <a:r>
              <a:rPr lang="en-US" dirty="0">
                <a:solidFill>
                  <a:srgbClr val="45556E"/>
                </a:solidFill>
                <a:latin typeface="Calibri" pitchFamily="34" charset="0"/>
                <a:ea typeface="Calibri" pitchFamily="34" charset="-122"/>
                <a:cs typeface="Calibri" pitchFamily="34" charset="-120"/>
              </a:rPr>
              <a:t>Horizontal: F</a:t>
            </a:r>
            <a:r>
              <a:rPr lang="en-US" sz="1600" dirty="0">
                <a:solidFill>
                  <a:srgbClr val="45556E"/>
                </a:solidFill>
                <a:latin typeface="Calibri" pitchFamily="34" charset="0"/>
                <a:ea typeface="Calibri" pitchFamily="34" charset="-122"/>
                <a:cs typeface="Calibri" pitchFamily="34" charset="-120"/>
              </a:rPr>
              <a:t>AB </a:t>
            </a:r>
            <a:r>
              <a:rPr lang="en-US" dirty="0">
                <a:solidFill>
                  <a:srgbClr val="45556E"/>
                </a:solidFill>
                <a:latin typeface="Calibri" pitchFamily="34" charset="0"/>
                <a:ea typeface="Calibri" pitchFamily="34" charset="-122"/>
                <a:cs typeface="Calibri" pitchFamily="34" charset="-120"/>
              </a:rPr>
              <a:t>+ F</a:t>
            </a:r>
            <a:r>
              <a:rPr lang="en-US" sz="1600" dirty="0">
                <a:solidFill>
                  <a:srgbClr val="45556E"/>
                </a:solidFill>
                <a:latin typeface="Calibri" pitchFamily="34" charset="0"/>
                <a:ea typeface="Calibri" pitchFamily="34" charset="-122"/>
                <a:cs typeface="Calibri" pitchFamily="34" charset="-120"/>
              </a:rPr>
              <a:t>AD </a:t>
            </a:r>
            <a:r>
              <a:rPr lang="en-US" dirty="0">
                <a:solidFill>
                  <a:srgbClr val="45556E"/>
                </a:solidFill>
                <a:latin typeface="Calibri" pitchFamily="34" charset="0"/>
                <a:ea typeface="Calibri" pitchFamily="34" charset="-122"/>
                <a:cs typeface="Calibri" pitchFamily="34" charset="-120"/>
              </a:rPr>
              <a:t>cos45° = 0  →  F</a:t>
            </a:r>
            <a:r>
              <a:rPr lang="en-US" sz="1600" dirty="0">
                <a:solidFill>
                  <a:srgbClr val="45556E"/>
                </a:solidFill>
                <a:latin typeface="Calibri" pitchFamily="34" charset="0"/>
                <a:ea typeface="Calibri" pitchFamily="34" charset="-122"/>
                <a:cs typeface="Calibri" pitchFamily="34" charset="-120"/>
              </a:rPr>
              <a:t>AB </a:t>
            </a:r>
            <a:r>
              <a:rPr lang="en-US" dirty="0">
                <a:solidFill>
                  <a:srgbClr val="45556E"/>
                </a:solidFill>
                <a:latin typeface="Calibri" pitchFamily="34" charset="0"/>
                <a:ea typeface="Calibri" pitchFamily="34" charset="-122"/>
                <a:cs typeface="Calibri" pitchFamily="34" charset="-120"/>
              </a:rPr>
              <a:t>= −150 N (Compression)</a:t>
            </a:r>
            <a:endParaRPr lang="en-US" dirty="0"/>
          </a:p>
        </p:txBody>
      </p:sp>
      <p:sp>
        <p:nvSpPr>
          <p:cNvPr id="9" name="Shape 7"/>
          <p:cNvSpPr/>
          <p:nvPr/>
        </p:nvSpPr>
        <p:spPr>
          <a:xfrm>
            <a:off x="548640" y="3017520"/>
            <a:ext cx="11091672" cy="1234440"/>
          </a:xfrm>
          <a:prstGeom prst="roundRect">
            <a:avLst>
              <a:gd name="adj" fmla="val 5185"/>
            </a:avLst>
          </a:prstGeom>
          <a:ln/>
        </p:spPr>
        <p:style>
          <a:lnRef idx="1">
            <a:schemeClr val="dk1"/>
          </a:lnRef>
          <a:fillRef idx="2">
            <a:schemeClr val="dk1"/>
          </a:fillRef>
          <a:effectRef idx="1">
            <a:schemeClr val="dk1"/>
          </a:effectRef>
          <a:fontRef idx="minor">
            <a:schemeClr val="dk1"/>
          </a:fontRef>
        </p:style>
        <p:txBody>
          <a:bodyPr/>
          <a:lstStyle/>
          <a:p>
            <a:endParaRPr lang="en-US" sz="2800"/>
          </a:p>
        </p:txBody>
      </p:sp>
      <p:sp>
        <p:nvSpPr>
          <p:cNvPr id="10" name="Shape 8"/>
          <p:cNvSpPr/>
          <p:nvPr/>
        </p:nvSpPr>
        <p:spPr>
          <a:xfrm>
            <a:off x="777240" y="3342132"/>
            <a:ext cx="585216" cy="585216"/>
          </a:xfrm>
          <a:prstGeom prst="ellipse">
            <a:avLst/>
          </a:prstGeom>
          <a:solidFill>
            <a:srgbClr val="18233C"/>
          </a:solidFill>
          <a:ln w="12700">
            <a:solidFill>
              <a:srgbClr val="18233C"/>
            </a:solidFill>
            <a:prstDash val="solid"/>
          </a:ln>
        </p:spPr>
        <p:txBody>
          <a:bodyPr/>
          <a:lstStyle/>
          <a:p>
            <a:endParaRPr lang="en-US" sz="2400"/>
          </a:p>
        </p:txBody>
      </p:sp>
      <p:sp>
        <p:nvSpPr>
          <p:cNvPr id="11" name="Text 9"/>
          <p:cNvSpPr/>
          <p:nvPr/>
        </p:nvSpPr>
        <p:spPr>
          <a:xfrm>
            <a:off x="777240" y="3342132"/>
            <a:ext cx="585216" cy="585216"/>
          </a:xfrm>
          <a:prstGeom prst="rect">
            <a:avLst/>
          </a:prstGeom>
          <a:noFill/>
          <a:ln/>
        </p:spPr>
        <p:txBody>
          <a:bodyPr wrap="square" rtlCol="0" anchor="ctr"/>
          <a:lstStyle/>
          <a:p>
            <a:pPr marL="0" indent="0" algn="ctr">
              <a:buNone/>
            </a:pPr>
            <a:r>
              <a:rPr lang="en-US" sz="2800" b="1" dirty="0">
                <a:solidFill>
                  <a:srgbClr val="E8912D"/>
                </a:solidFill>
                <a:latin typeface="Cambria" pitchFamily="34" charset="0"/>
                <a:ea typeface="Cambria" pitchFamily="34" charset="-122"/>
                <a:cs typeface="Cambria" pitchFamily="34" charset="-120"/>
              </a:rPr>
              <a:t>B</a:t>
            </a:r>
            <a:endParaRPr lang="en-US" sz="2800" dirty="0"/>
          </a:p>
        </p:txBody>
      </p:sp>
      <p:sp>
        <p:nvSpPr>
          <p:cNvPr id="12" name="Text 10"/>
          <p:cNvSpPr/>
          <p:nvPr/>
        </p:nvSpPr>
        <p:spPr>
          <a:xfrm>
            <a:off x="1600200" y="3108960"/>
            <a:ext cx="1828800" cy="365760"/>
          </a:xfrm>
          <a:prstGeom prst="rect">
            <a:avLst/>
          </a:prstGeom>
          <a:noFill/>
          <a:ln/>
        </p:spPr>
        <p:txBody>
          <a:bodyPr wrap="square" rtlCol="0" anchor="ctr"/>
          <a:lstStyle/>
          <a:p>
            <a:pPr marL="0" indent="0">
              <a:buNone/>
            </a:pPr>
            <a:r>
              <a:rPr lang="en-US" sz="2000" b="1" dirty="0">
                <a:solidFill>
                  <a:srgbClr val="18233C"/>
                </a:solidFill>
                <a:latin typeface="Cambria" pitchFamily="34" charset="0"/>
                <a:ea typeface="Cambria" pitchFamily="34" charset="-122"/>
                <a:cs typeface="Cambria" pitchFamily="34" charset="-120"/>
              </a:rPr>
              <a:t>Joint B</a:t>
            </a:r>
            <a:endParaRPr lang="en-US" sz="2000" dirty="0"/>
          </a:p>
        </p:txBody>
      </p:sp>
      <p:sp>
        <p:nvSpPr>
          <p:cNvPr id="13" name="Text 11"/>
          <p:cNvSpPr/>
          <p:nvPr/>
        </p:nvSpPr>
        <p:spPr>
          <a:xfrm>
            <a:off x="1600200" y="3429000"/>
            <a:ext cx="9784080" cy="777240"/>
          </a:xfrm>
          <a:prstGeom prst="rect">
            <a:avLst/>
          </a:prstGeom>
          <a:noFill/>
          <a:ln/>
        </p:spPr>
        <p:txBody>
          <a:bodyPr wrap="square" rtlCol="0" anchor="ctr"/>
          <a:lstStyle/>
          <a:p>
            <a:pPr marL="0" indent="0">
              <a:lnSpc>
                <a:spcPct val="125000"/>
              </a:lnSpc>
              <a:buNone/>
            </a:pPr>
            <a:r>
              <a:rPr lang="en-US" dirty="0">
                <a:solidFill>
                  <a:srgbClr val="45556E"/>
                </a:solidFill>
                <a:latin typeface="Calibri" pitchFamily="34" charset="0"/>
                <a:ea typeface="Calibri" pitchFamily="34" charset="-122"/>
                <a:cs typeface="Calibri" pitchFamily="34" charset="-120"/>
              </a:rPr>
              <a:t>Horizontal: F</a:t>
            </a:r>
            <a:r>
              <a:rPr lang="en-US" sz="1600" dirty="0">
                <a:solidFill>
                  <a:srgbClr val="45556E"/>
                </a:solidFill>
                <a:latin typeface="Calibri" pitchFamily="34" charset="0"/>
                <a:ea typeface="Calibri" pitchFamily="34" charset="-122"/>
                <a:cs typeface="Calibri" pitchFamily="34" charset="-120"/>
              </a:rPr>
              <a:t>BC </a:t>
            </a:r>
            <a:r>
              <a:rPr lang="en-US" dirty="0">
                <a:solidFill>
                  <a:srgbClr val="45556E"/>
                </a:solidFill>
                <a:latin typeface="Calibri" pitchFamily="34" charset="0"/>
                <a:ea typeface="Calibri" pitchFamily="34" charset="-122"/>
                <a:cs typeface="Calibri" pitchFamily="34" charset="-120"/>
              </a:rPr>
              <a:t>− F</a:t>
            </a:r>
            <a:r>
              <a:rPr lang="en-US" sz="1600" dirty="0">
                <a:solidFill>
                  <a:srgbClr val="45556E"/>
                </a:solidFill>
                <a:latin typeface="Calibri" pitchFamily="34" charset="0"/>
                <a:ea typeface="Calibri" pitchFamily="34" charset="-122"/>
                <a:cs typeface="Calibri" pitchFamily="34" charset="-120"/>
              </a:rPr>
              <a:t>AB </a:t>
            </a:r>
            <a:r>
              <a:rPr lang="en-US" dirty="0">
                <a:solidFill>
                  <a:srgbClr val="45556E"/>
                </a:solidFill>
                <a:latin typeface="Calibri" pitchFamily="34" charset="0"/>
                <a:ea typeface="Calibri" pitchFamily="34" charset="-122"/>
                <a:cs typeface="Calibri" pitchFamily="34" charset="-120"/>
              </a:rPr>
              <a:t>= 0  →  F</a:t>
            </a:r>
            <a:r>
              <a:rPr lang="en-US" sz="1600" dirty="0">
                <a:solidFill>
                  <a:srgbClr val="45556E"/>
                </a:solidFill>
                <a:latin typeface="Calibri" pitchFamily="34" charset="0"/>
                <a:ea typeface="Calibri" pitchFamily="34" charset="-122"/>
                <a:cs typeface="Calibri" pitchFamily="34" charset="-120"/>
              </a:rPr>
              <a:t>BC </a:t>
            </a:r>
            <a:r>
              <a:rPr lang="en-US" dirty="0">
                <a:solidFill>
                  <a:srgbClr val="45556E"/>
                </a:solidFill>
                <a:latin typeface="Calibri" pitchFamily="34" charset="0"/>
                <a:ea typeface="Calibri" pitchFamily="34" charset="-122"/>
                <a:cs typeface="Calibri" pitchFamily="34" charset="-120"/>
              </a:rPr>
              <a:t>= 150 N (Tension)</a:t>
            </a:r>
            <a:endParaRPr lang="en-US" dirty="0"/>
          </a:p>
          <a:p>
            <a:pPr marL="0" indent="0">
              <a:lnSpc>
                <a:spcPct val="125000"/>
              </a:lnSpc>
              <a:buNone/>
            </a:pPr>
            <a:r>
              <a:rPr lang="en-US" dirty="0">
                <a:solidFill>
                  <a:srgbClr val="45556E"/>
                </a:solidFill>
                <a:latin typeface="Calibri" pitchFamily="34" charset="0"/>
                <a:ea typeface="Calibri" pitchFamily="34" charset="-122"/>
                <a:cs typeface="Calibri" pitchFamily="34" charset="-120"/>
              </a:rPr>
              <a:t>Vertical: F</a:t>
            </a:r>
            <a:r>
              <a:rPr lang="en-US" sz="1600" dirty="0">
                <a:solidFill>
                  <a:srgbClr val="45556E"/>
                </a:solidFill>
                <a:latin typeface="Calibri" pitchFamily="34" charset="0"/>
                <a:ea typeface="Calibri" pitchFamily="34" charset="-122"/>
                <a:cs typeface="Calibri" pitchFamily="34" charset="-120"/>
              </a:rPr>
              <a:t>BD </a:t>
            </a:r>
            <a:r>
              <a:rPr lang="en-US" dirty="0">
                <a:solidFill>
                  <a:srgbClr val="45556E"/>
                </a:solidFill>
                <a:latin typeface="Calibri" pitchFamily="34" charset="0"/>
                <a:ea typeface="Calibri" pitchFamily="34" charset="-122"/>
                <a:cs typeface="Calibri" pitchFamily="34" charset="-120"/>
              </a:rPr>
              <a:t>= 0 N  →  Zero-force member</a:t>
            </a:r>
            <a:endParaRPr lang="en-US" dirty="0"/>
          </a:p>
        </p:txBody>
      </p:sp>
      <p:sp>
        <p:nvSpPr>
          <p:cNvPr id="14" name="Shape 12"/>
          <p:cNvSpPr/>
          <p:nvPr/>
        </p:nvSpPr>
        <p:spPr>
          <a:xfrm>
            <a:off x="548640" y="4480560"/>
            <a:ext cx="11091672" cy="1127760"/>
          </a:xfrm>
          <a:prstGeom prst="roundRect">
            <a:avLst>
              <a:gd name="adj" fmla="val 7368"/>
            </a:avLst>
          </a:prstGeom>
          <a:ln/>
        </p:spPr>
        <p:style>
          <a:lnRef idx="1">
            <a:schemeClr val="accent6"/>
          </a:lnRef>
          <a:fillRef idx="2">
            <a:schemeClr val="accent6"/>
          </a:fillRef>
          <a:effectRef idx="1">
            <a:schemeClr val="accent6"/>
          </a:effectRef>
          <a:fontRef idx="minor">
            <a:schemeClr val="dk1"/>
          </a:fontRef>
        </p:style>
        <p:txBody>
          <a:bodyPr/>
          <a:lstStyle/>
          <a:p>
            <a:endParaRPr lang="en-US" sz="2800"/>
          </a:p>
        </p:txBody>
      </p:sp>
      <p:sp>
        <p:nvSpPr>
          <p:cNvPr id="15" name="Shape 13"/>
          <p:cNvSpPr/>
          <p:nvPr/>
        </p:nvSpPr>
        <p:spPr>
          <a:xfrm>
            <a:off x="777240" y="4622292"/>
            <a:ext cx="585216" cy="585216"/>
          </a:xfrm>
          <a:prstGeom prst="ellipse">
            <a:avLst/>
          </a:prstGeom>
          <a:solidFill>
            <a:srgbClr val="18233C"/>
          </a:solidFill>
          <a:ln w="12700">
            <a:solidFill>
              <a:srgbClr val="18233C"/>
            </a:solidFill>
            <a:prstDash val="solid"/>
          </a:ln>
        </p:spPr>
        <p:txBody>
          <a:bodyPr/>
          <a:lstStyle/>
          <a:p>
            <a:endParaRPr lang="en-US" sz="2400"/>
          </a:p>
        </p:txBody>
      </p:sp>
      <p:sp>
        <p:nvSpPr>
          <p:cNvPr id="16" name="Text 14"/>
          <p:cNvSpPr/>
          <p:nvPr/>
        </p:nvSpPr>
        <p:spPr>
          <a:xfrm>
            <a:off x="777240" y="4622292"/>
            <a:ext cx="585216" cy="585216"/>
          </a:xfrm>
          <a:prstGeom prst="rect">
            <a:avLst/>
          </a:prstGeom>
          <a:noFill/>
          <a:ln/>
        </p:spPr>
        <p:txBody>
          <a:bodyPr wrap="square" rtlCol="0" anchor="ctr"/>
          <a:lstStyle/>
          <a:p>
            <a:pPr marL="0" indent="0" algn="ctr">
              <a:buNone/>
            </a:pPr>
            <a:r>
              <a:rPr lang="en-US" sz="2800" b="1" dirty="0">
                <a:solidFill>
                  <a:srgbClr val="E8912D"/>
                </a:solidFill>
                <a:latin typeface="Cambria" pitchFamily="34" charset="0"/>
                <a:ea typeface="Cambria" pitchFamily="34" charset="-122"/>
                <a:cs typeface="Cambria" pitchFamily="34" charset="-120"/>
              </a:rPr>
              <a:t>C</a:t>
            </a:r>
            <a:endParaRPr lang="en-US" sz="2800" dirty="0"/>
          </a:p>
        </p:txBody>
      </p:sp>
      <p:sp>
        <p:nvSpPr>
          <p:cNvPr id="17" name="Text 15"/>
          <p:cNvSpPr/>
          <p:nvPr/>
        </p:nvSpPr>
        <p:spPr>
          <a:xfrm>
            <a:off x="1600200" y="4572000"/>
            <a:ext cx="1828800" cy="365760"/>
          </a:xfrm>
          <a:prstGeom prst="rect">
            <a:avLst/>
          </a:prstGeom>
          <a:noFill/>
          <a:ln/>
        </p:spPr>
        <p:txBody>
          <a:bodyPr wrap="square" rtlCol="0" anchor="ctr"/>
          <a:lstStyle/>
          <a:p>
            <a:pPr marL="0" indent="0">
              <a:buNone/>
            </a:pPr>
            <a:r>
              <a:rPr lang="en-US" sz="2000" b="1" dirty="0">
                <a:solidFill>
                  <a:srgbClr val="18233C"/>
                </a:solidFill>
                <a:latin typeface="Cambria" pitchFamily="34" charset="0"/>
                <a:ea typeface="Cambria" pitchFamily="34" charset="-122"/>
                <a:cs typeface="Cambria" pitchFamily="34" charset="-120"/>
              </a:rPr>
              <a:t>Joint C</a:t>
            </a:r>
            <a:endParaRPr lang="en-US" sz="2000" dirty="0"/>
          </a:p>
        </p:txBody>
      </p:sp>
      <p:sp>
        <p:nvSpPr>
          <p:cNvPr id="18" name="Text 16"/>
          <p:cNvSpPr/>
          <p:nvPr/>
        </p:nvSpPr>
        <p:spPr>
          <a:xfrm>
            <a:off x="1600200" y="4892040"/>
            <a:ext cx="9784080" cy="411480"/>
          </a:xfrm>
          <a:prstGeom prst="rect">
            <a:avLst/>
          </a:prstGeom>
          <a:noFill/>
          <a:ln/>
        </p:spPr>
        <p:txBody>
          <a:bodyPr wrap="square" rtlCol="0" anchor="ctr"/>
          <a:lstStyle/>
          <a:p>
            <a:pPr marL="0" indent="0">
              <a:lnSpc>
                <a:spcPct val="125000"/>
              </a:lnSpc>
              <a:buNone/>
            </a:pPr>
            <a:r>
              <a:rPr lang="en-US" dirty="0">
                <a:solidFill>
                  <a:srgbClr val="45556E"/>
                </a:solidFill>
                <a:latin typeface="Calibri" pitchFamily="34" charset="0"/>
                <a:ea typeface="Calibri" pitchFamily="34" charset="-122"/>
                <a:cs typeface="Calibri" pitchFamily="34" charset="-120"/>
              </a:rPr>
              <a:t>Horizontal: −F</a:t>
            </a:r>
            <a:r>
              <a:rPr lang="en-US" sz="1600" dirty="0">
                <a:solidFill>
                  <a:srgbClr val="45556E"/>
                </a:solidFill>
                <a:latin typeface="Calibri" pitchFamily="34" charset="0"/>
                <a:ea typeface="Calibri" pitchFamily="34" charset="-122"/>
                <a:cs typeface="Calibri" pitchFamily="34" charset="-120"/>
              </a:rPr>
              <a:t>BC </a:t>
            </a:r>
            <a:r>
              <a:rPr lang="en-US" dirty="0">
                <a:solidFill>
                  <a:srgbClr val="45556E"/>
                </a:solidFill>
                <a:latin typeface="Calibri" pitchFamily="34" charset="0"/>
                <a:ea typeface="Calibri" pitchFamily="34" charset="-122"/>
                <a:cs typeface="Calibri" pitchFamily="34" charset="-120"/>
              </a:rPr>
              <a:t>+ F</a:t>
            </a:r>
            <a:r>
              <a:rPr lang="en-US" sz="1600" dirty="0">
                <a:solidFill>
                  <a:srgbClr val="45556E"/>
                </a:solidFill>
                <a:latin typeface="Calibri" pitchFamily="34" charset="0"/>
                <a:ea typeface="Calibri" pitchFamily="34" charset="-122"/>
                <a:cs typeface="Calibri" pitchFamily="34" charset="-120"/>
              </a:rPr>
              <a:t>CD </a:t>
            </a:r>
            <a:r>
              <a:rPr lang="en-US" dirty="0">
                <a:solidFill>
                  <a:srgbClr val="45556E"/>
                </a:solidFill>
                <a:latin typeface="Calibri" pitchFamily="34" charset="0"/>
                <a:ea typeface="Calibri" pitchFamily="34" charset="-122"/>
                <a:cs typeface="Calibri" pitchFamily="34" charset="-120"/>
              </a:rPr>
              <a:t>cos45° + R</a:t>
            </a:r>
            <a:r>
              <a:rPr lang="en-US" sz="1600" dirty="0">
                <a:solidFill>
                  <a:srgbClr val="45556E"/>
                </a:solidFill>
                <a:latin typeface="Calibri" pitchFamily="34" charset="0"/>
                <a:ea typeface="Calibri" pitchFamily="34" charset="-122"/>
                <a:cs typeface="Calibri" pitchFamily="34" charset="-120"/>
              </a:rPr>
              <a:t>Cx </a:t>
            </a:r>
            <a:r>
              <a:rPr lang="en-US" dirty="0">
                <a:solidFill>
                  <a:srgbClr val="45556E"/>
                </a:solidFill>
                <a:latin typeface="Calibri" pitchFamily="34" charset="0"/>
                <a:ea typeface="Calibri" pitchFamily="34" charset="-122"/>
                <a:cs typeface="Calibri" pitchFamily="34" charset="-120"/>
              </a:rPr>
              <a:t>= 0  →  F</a:t>
            </a:r>
            <a:r>
              <a:rPr lang="en-US" sz="1600" dirty="0">
                <a:solidFill>
                  <a:srgbClr val="45556E"/>
                </a:solidFill>
                <a:latin typeface="Calibri" pitchFamily="34" charset="0"/>
                <a:ea typeface="Calibri" pitchFamily="34" charset="-122"/>
                <a:cs typeface="Calibri" pitchFamily="34" charset="-120"/>
              </a:rPr>
              <a:t>CD </a:t>
            </a:r>
            <a:r>
              <a:rPr lang="en-US" dirty="0">
                <a:solidFill>
                  <a:srgbClr val="45556E"/>
                </a:solidFill>
                <a:latin typeface="Calibri" pitchFamily="34" charset="0"/>
                <a:ea typeface="Calibri" pitchFamily="34" charset="-122"/>
                <a:cs typeface="Calibri" pitchFamily="34" charset="-120"/>
              </a:rPr>
              <a:t>= −212.13 N (Compression)</a:t>
            </a:r>
            <a:endParaRPr lang="en-US" dirty="0"/>
          </a:p>
        </p:txBody>
      </p:sp>
      <p:sp>
        <p:nvSpPr>
          <p:cNvPr id="19" name="Text 17"/>
          <p:cNvSpPr/>
          <p:nvPr/>
        </p:nvSpPr>
        <p:spPr>
          <a:xfrm>
            <a:off x="457200" y="6473952"/>
            <a:ext cx="5486400" cy="274320"/>
          </a:xfrm>
          <a:prstGeom prst="rect">
            <a:avLst/>
          </a:prstGeom>
          <a:noFill/>
          <a:ln/>
        </p:spPr>
        <p:txBody>
          <a:bodyPr wrap="square" rtlCol="0" anchor="ctr"/>
          <a:lstStyle/>
          <a:p>
            <a:pPr marL="0" indent="0" algn="l">
              <a:buNone/>
            </a:pPr>
            <a:r>
              <a:rPr lang="en-US" sz="1100" dirty="0">
                <a:solidFill>
                  <a:srgbClr val="45556E"/>
                </a:solidFill>
                <a:latin typeface="Calibri" pitchFamily="34" charset="0"/>
                <a:ea typeface="Calibri" pitchFamily="34" charset="-122"/>
                <a:cs typeface="Calibri" pitchFamily="34" charset="-120"/>
              </a:rPr>
              <a:t>Frais Asghar  |  NUST · SMME</a:t>
            </a:r>
            <a:endParaRPr lang="en-US" sz="1100" dirty="0"/>
          </a:p>
        </p:txBody>
      </p:sp>
      <p:sp>
        <p:nvSpPr>
          <p:cNvPr id="20" name="Text 18"/>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45556E"/>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buNone/>
            </a:pPr>
            <a:r>
              <a:rPr lang="en-US" sz="3600" b="1" dirty="0">
                <a:solidFill>
                  <a:srgbClr val="18233C"/>
                </a:solidFill>
                <a:latin typeface="Cambria" pitchFamily="34" charset="0"/>
                <a:ea typeface="Cambria" pitchFamily="34" charset="-122"/>
                <a:cs typeface="Cambria" pitchFamily="34" charset="-120"/>
              </a:rPr>
              <a:t>Complete Force Summary</a:t>
            </a:r>
            <a:endParaRPr lang="en-US" sz="3600" dirty="0"/>
          </a:p>
        </p:txBody>
      </p:sp>
      <p:sp>
        <p:nvSpPr>
          <p:cNvPr id="3" name="Text 1"/>
          <p:cNvSpPr/>
          <p:nvPr/>
        </p:nvSpPr>
        <p:spPr>
          <a:xfrm>
            <a:off x="548640" y="896112"/>
            <a:ext cx="11091672" cy="320040"/>
          </a:xfrm>
          <a:prstGeom prst="rect">
            <a:avLst/>
          </a:prstGeom>
          <a:noFill/>
          <a:ln/>
        </p:spPr>
        <p:txBody>
          <a:bodyPr wrap="square" rtlCol="0" anchor="ctr"/>
          <a:lstStyle/>
          <a:p>
            <a:pPr marL="0" indent="0">
              <a:buNone/>
            </a:pPr>
            <a:r>
              <a:rPr lang="en-US" sz="1600" i="1" dirty="0">
                <a:solidFill>
                  <a:srgbClr val="5B7B9C"/>
                </a:solidFill>
                <a:latin typeface="Calibri" pitchFamily="34" charset="0"/>
                <a:ea typeface="Calibri" pitchFamily="34" charset="-122"/>
                <a:cs typeface="Calibri" pitchFamily="34" charset="-120"/>
              </a:rPr>
              <a:t>Reactions and member forces from the method of joints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486016368"/>
              </p:ext>
            </p:extLst>
          </p:nvPr>
        </p:nvGraphicFramePr>
        <p:xfrm>
          <a:off x="548640" y="1691640"/>
          <a:ext cx="11073384" cy="1676400"/>
        </p:xfrm>
        <a:graphic>
          <a:graphicData uri="http://schemas.openxmlformats.org/drawingml/2006/table">
            <a:tbl>
              <a:tblPr/>
              <a:tblGrid>
                <a:gridCol w="1417320">
                  <a:extLst>
                    <a:ext uri="{9D8B030D-6E8A-4147-A177-3AD203B41FA5}">
                      <a16:colId xmlns:a16="http://schemas.microsoft.com/office/drawing/2014/main" val="20000"/>
                    </a:ext>
                  </a:extLst>
                </a:gridCol>
                <a:gridCol w="1207008">
                  <a:extLst>
                    <a:ext uri="{9D8B030D-6E8A-4147-A177-3AD203B41FA5}">
                      <a16:colId xmlns:a16="http://schemas.microsoft.com/office/drawing/2014/main" val="20001"/>
                    </a:ext>
                  </a:extLst>
                </a:gridCol>
                <a:gridCol w="1207008">
                  <a:extLst>
                    <a:ext uri="{9D8B030D-6E8A-4147-A177-3AD203B41FA5}">
                      <a16:colId xmlns:a16="http://schemas.microsoft.com/office/drawing/2014/main" val="20002"/>
                    </a:ext>
                  </a:extLst>
                </a:gridCol>
                <a:gridCol w="1106424">
                  <a:extLst>
                    <a:ext uri="{9D8B030D-6E8A-4147-A177-3AD203B41FA5}">
                      <a16:colId xmlns:a16="http://schemas.microsoft.com/office/drawing/2014/main" val="20003"/>
                    </a:ext>
                  </a:extLst>
                </a:gridCol>
                <a:gridCol w="1307592">
                  <a:extLst>
                    <a:ext uri="{9D8B030D-6E8A-4147-A177-3AD203B41FA5}">
                      <a16:colId xmlns:a16="http://schemas.microsoft.com/office/drawing/2014/main" val="20004"/>
                    </a:ext>
                  </a:extLst>
                </a:gridCol>
                <a:gridCol w="1207008">
                  <a:extLst>
                    <a:ext uri="{9D8B030D-6E8A-4147-A177-3AD203B41FA5}">
                      <a16:colId xmlns:a16="http://schemas.microsoft.com/office/drawing/2014/main" val="20005"/>
                    </a:ext>
                  </a:extLst>
                </a:gridCol>
                <a:gridCol w="1207008">
                  <a:extLst>
                    <a:ext uri="{9D8B030D-6E8A-4147-A177-3AD203B41FA5}">
                      <a16:colId xmlns:a16="http://schemas.microsoft.com/office/drawing/2014/main" val="20006"/>
                    </a:ext>
                  </a:extLst>
                </a:gridCol>
                <a:gridCol w="1207008">
                  <a:extLst>
                    <a:ext uri="{9D8B030D-6E8A-4147-A177-3AD203B41FA5}">
                      <a16:colId xmlns:a16="http://schemas.microsoft.com/office/drawing/2014/main" val="20007"/>
                    </a:ext>
                  </a:extLst>
                </a:gridCol>
                <a:gridCol w="1207008">
                  <a:extLst>
                    <a:ext uri="{9D8B030D-6E8A-4147-A177-3AD203B41FA5}">
                      <a16:colId xmlns:a16="http://schemas.microsoft.com/office/drawing/2014/main" val="20008"/>
                    </a:ext>
                  </a:extLst>
                </a:gridCol>
              </a:tblGrid>
              <a:tr h="548640">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Quantity</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R_Ay</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R_Cx</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R_Cy</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F_AB</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F_AD</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F_BC</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F_BD</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F_CD</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18233C"/>
                    </a:solidFill>
                  </a:tcPr>
                </a:tc>
                <a:extLst>
                  <a:ext uri="{0D108BD9-81ED-4DB2-BD59-A6C34878D82A}">
                    <a16:rowId xmlns:a16="http://schemas.microsoft.com/office/drawing/2014/main" val="10000"/>
                  </a:ext>
                </a:extLst>
              </a:tr>
              <a:tr h="548640">
                <a:tc>
                  <a:txBody>
                    <a:bodyPr/>
                    <a:lstStyle/>
                    <a:p>
                      <a:pPr marL="0" indent="0" algn="ctr">
                        <a:buNone/>
                      </a:pPr>
                      <a:r>
                        <a:rPr lang="en-US" sz="1600" b="1" dirty="0">
                          <a:solidFill>
                            <a:srgbClr val="18233C"/>
                          </a:solidFill>
                          <a:latin typeface="Calibri" pitchFamily="34" charset="0"/>
                          <a:ea typeface="Calibri" pitchFamily="34" charset="-122"/>
                          <a:cs typeface="Calibri" pitchFamily="34" charset="-120"/>
                        </a:rPr>
                        <a:t>Value (N)</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EEF2F7"/>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300</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212.13</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212.13</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600" b="1" dirty="0">
                          <a:solidFill>
                            <a:srgbClr val="18233C"/>
                          </a:solidFill>
                          <a:latin typeface="Calibri" pitchFamily="34" charset="0"/>
                          <a:ea typeface="Calibri" pitchFamily="34" charset="-122"/>
                          <a:cs typeface="Calibri" pitchFamily="34" charset="-120"/>
                        </a:rPr>
                        <a:t>Nature</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EEF2F7"/>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Downward</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Leftward</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Upward</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B0413E"/>
                          </a:solidFill>
                          <a:latin typeface="Calibri" pitchFamily="34" charset="0"/>
                          <a:ea typeface="Calibri" pitchFamily="34" charset="-122"/>
                          <a:cs typeface="Calibri" pitchFamily="34" charset="-120"/>
                        </a:rPr>
                        <a:t>Compression</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E7D5B"/>
                          </a:solidFill>
                          <a:latin typeface="Calibri" pitchFamily="34" charset="0"/>
                          <a:ea typeface="Calibri" pitchFamily="34" charset="-122"/>
                          <a:cs typeface="Calibri" pitchFamily="34" charset="-120"/>
                        </a:rPr>
                        <a:t>Tension</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2E7D5B"/>
                          </a:solidFill>
                          <a:latin typeface="Calibri" pitchFamily="34" charset="0"/>
                          <a:ea typeface="Calibri" pitchFamily="34" charset="-122"/>
                          <a:cs typeface="Calibri" pitchFamily="34" charset="-120"/>
                        </a:rPr>
                        <a:t>Tension</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8233C"/>
                          </a:solidFill>
                          <a:latin typeface="Calibri" pitchFamily="34" charset="0"/>
                          <a:ea typeface="Calibri" pitchFamily="34" charset="-122"/>
                          <a:cs typeface="Calibri" pitchFamily="34" charset="-120"/>
                        </a:rPr>
                        <a:t>Zero-force</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B0413E"/>
                          </a:solidFill>
                          <a:latin typeface="Calibri" pitchFamily="34" charset="0"/>
                          <a:ea typeface="Calibri" pitchFamily="34" charset="-122"/>
                          <a:cs typeface="Calibri" pitchFamily="34" charset="-120"/>
                        </a:rPr>
                        <a:t>Compression</a:t>
                      </a:r>
                      <a:endParaRPr lang="en-US" sz="1600" dirty="0">
                        <a:latin typeface="Calibri" charset="0"/>
                        <a:ea typeface="Calibri" charset="0"/>
                        <a:cs typeface="Calibri" charset="0"/>
                      </a:endParaRPr>
                    </a:p>
                  </a:txBody>
                  <a:tcPr anchor="ctr">
                    <a:lnL w="12700" cap="flat" cmpd="sng" algn="ctr">
                      <a:solidFill>
                        <a:srgbClr val="E2E7EE"/>
                      </a:solidFill>
                      <a:prstDash val="solid"/>
                      <a:round/>
                      <a:headEnd type="none" w="med" len="med"/>
                      <a:tailEnd type="none" w="med" len="med"/>
                    </a:lnL>
                    <a:lnR w="12700" cap="flat" cmpd="sng" algn="ctr">
                      <a:solidFill>
                        <a:srgbClr val="E2E7EE"/>
                      </a:solidFill>
                      <a:prstDash val="solid"/>
                      <a:round/>
                      <a:headEnd type="none" w="med" len="med"/>
                      <a:tailEnd type="none" w="med" len="med"/>
                    </a:lnR>
                    <a:lnT w="12700" cap="flat" cmpd="sng" algn="ctr">
                      <a:solidFill>
                        <a:srgbClr val="E2E7EE"/>
                      </a:solidFill>
                      <a:prstDash val="solid"/>
                      <a:round/>
                      <a:headEnd type="none" w="med" len="med"/>
                      <a:tailEnd type="none" w="med" len="med"/>
                    </a:lnT>
                    <a:lnB w="12700" cap="flat" cmpd="sng" algn="ctr">
                      <a:solidFill>
                        <a:srgbClr val="E2E7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Shape 2"/>
          <p:cNvSpPr/>
          <p:nvPr/>
        </p:nvSpPr>
        <p:spPr>
          <a:xfrm>
            <a:off x="548640" y="3749040"/>
            <a:ext cx="5394960" cy="1417320"/>
          </a:xfrm>
          <a:prstGeom prst="roundRect">
            <a:avLst>
              <a:gd name="adj" fmla="val 5161"/>
            </a:avLst>
          </a:prstGeom>
          <a:solidFill>
            <a:srgbClr val="FFFFFF"/>
          </a:solidFill>
          <a:ln w="12700">
            <a:solidFill>
              <a:srgbClr val="E2E7EE"/>
            </a:solidFill>
            <a:prstDash val="solid"/>
          </a:ln>
        </p:spPr>
        <p:txBody>
          <a:bodyPr/>
          <a:lstStyle/>
          <a:p>
            <a:endParaRPr lang="en-US" sz="2400"/>
          </a:p>
        </p:txBody>
      </p:sp>
      <p:sp>
        <p:nvSpPr>
          <p:cNvPr id="6" name="Text 3"/>
          <p:cNvSpPr/>
          <p:nvPr/>
        </p:nvSpPr>
        <p:spPr>
          <a:xfrm>
            <a:off x="777240" y="3886200"/>
            <a:ext cx="4937760" cy="1143000"/>
          </a:xfrm>
          <a:prstGeom prst="rect">
            <a:avLst/>
          </a:prstGeom>
          <a:noFill/>
          <a:ln/>
        </p:spPr>
        <p:txBody>
          <a:bodyPr wrap="square" rtlCol="0" anchor="ctr"/>
          <a:lstStyle/>
          <a:p>
            <a:pPr marL="0" indent="0">
              <a:lnSpc>
                <a:spcPct val="130000"/>
              </a:lnSpc>
              <a:buNone/>
            </a:pPr>
            <a:r>
              <a:rPr lang="en-US" sz="1600" b="1" dirty="0">
                <a:solidFill>
                  <a:srgbClr val="2E7D5B"/>
                </a:solidFill>
                <a:latin typeface="Calibri" pitchFamily="34" charset="0"/>
                <a:ea typeface="Calibri" pitchFamily="34" charset="-122"/>
                <a:cs typeface="Calibri" pitchFamily="34" charset="-120"/>
              </a:rPr>
              <a:t>Members in Tension: </a:t>
            </a:r>
            <a:r>
              <a:rPr lang="en-US" sz="1600" dirty="0">
                <a:solidFill>
                  <a:srgbClr val="45556E"/>
                </a:solidFill>
                <a:latin typeface="Calibri" pitchFamily="34" charset="0"/>
                <a:ea typeface="Calibri" pitchFamily="34" charset="-122"/>
                <a:cs typeface="Calibri" pitchFamily="34" charset="-120"/>
              </a:rPr>
              <a:t>AD (212.13 N), BC (150 N)
</a:t>
            </a:r>
            <a:r>
              <a:rPr lang="en-US" sz="1600" b="1" dirty="0">
                <a:solidFill>
                  <a:srgbClr val="B0413E"/>
                </a:solidFill>
                <a:latin typeface="Calibri" pitchFamily="34" charset="0"/>
                <a:ea typeface="Calibri" pitchFamily="34" charset="-122"/>
                <a:cs typeface="Calibri" pitchFamily="34" charset="-120"/>
              </a:rPr>
              <a:t>Members in Compression: </a:t>
            </a:r>
            <a:r>
              <a:rPr lang="en-US" sz="1600" dirty="0">
                <a:solidFill>
                  <a:srgbClr val="45556E"/>
                </a:solidFill>
                <a:latin typeface="Calibri" pitchFamily="34" charset="0"/>
                <a:ea typeface="Calibri" pitchFamily="34" charset="-122"/>
                <a:cs typeface="Calibri" pitchFamily="34" charset="-120"/>
              </a:rPr>
              <a:t>AB (150 N), CD (212.13 N)
</a:t>
            </a:r>
            <a:r>
              <a:rPr lang="en-US" sz="1600" b="1" dirty="0">
                <a:solidFill>
                  <a:srgbClr val="18233C"/>
                </a:solidFill>
                <a:latin typeface="Calibri" pitchFamily="34" charset="0"/>
                <a:ea typeface="Calibri" pitchFamily="34" charset="-122"/>
                <a:cs typeface="Calibri" pitchFamily="34" charset="-120"/>
              </a:rPr>
              <a:t>Zero-Force Member: </a:t>
            </a:r>
            <a:r>
              <a:rPr lang="en-US" sz="1600" dirty="0">
                <a:solidFill>
                  <a:srgbClr val="45556E"/>
                </a:solidFill>
                <a:latin typeface="Calibri" pitchFamily="34" charset="0"/>
                <a:ea typeface="Calibri" pitchFamily="34" charset="-122"/>
                <a:cs typeface="Calibri" pitchFamily="34" charset="-120"/>
              </a:rPr>
              <a:t>BD (0 N)</a:t>
            </a:r>
            <a:endParaRPr lang="en-US" sz="1600" dirty="0"/>
          </a:p>
        </p:txBody>
      </p:sp>
      <p:sp>
        <p:nvSpPr>
          <p:cNvPr id="7" name="Shape 4"/>
          <p:cNvSpPr/>
          <p:nvPr/>
        </p:nvSpPr>
        <p:spPr>
          <a:xfrm>
            <a:off x="6172200" y="3749040"/>
            <a:ext cx="5468112" cy="1417320"/>
          </a:xfrm>
          <a:prstGeom prst="roundRect">
            <a:avLst>
              <a:gd name="adj" fmla="val 5161"/>
            </a:avLst>
          </a:prstGeom>
          <a:solidFill>
            <a:srgbClr val="18233C"/>
          </a:solidFill>
          <a:ln w="12700">
            <a:solidFill>
              <a:srgbClr val="18233C"/>
            </a:solidFill>
            <a:prstDash val="solid"/>
          </a:ln>
        </p:spPr>
        <p:txBody>
          <a:bodyPr/>
          <a:lstStyle/>
          <a:p>
            <a:endParaRPr lang="en-US" sz="2400"/>
          </a:p>
        </p:txBody>
      </p:sp>
      <p:sp>
        <p:nvSpPr>
          <p:cNvPr id="8" name="Text 5"/>
          <p:cNvSpPr/>
          <p:nvPr/>
        </p:nvSpPr>
        <p:spPr>
          <a:xfrm>
            <a:off x="6400800" y="3749040"/>
            <a:ext cx="5029200" cy="141732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Maximum internal force: 212.13 N (members AD &amp; CD) — this governs member sizing and matches the ANSYS peak exactly.</a:t>
            </a:r>
            <a:endParaRPr lang="en-US" sz="1600" dirty="0"/>
          </a:p>
        </p:txBody>
      </p:sp>
      <p:sp>
        <p:nvSpPr>
          <p:cNvPr id="4" name="Text 6"/>
          <p:cNvSpPr/>
          <p:nvPr/>
        </p:nvSpPr>
        <p:spPr>
          <a:xfrm>
            <a:off x="457200" y="6473952"/>
            <a:ext cx="5486400" cy="274320"/>
          </a:xfrm>
          <a:prstGeom prst="rect">
            <a:avLst/>
          </a:prstGeom>
          <a:noFill/>
          <a:ln/>
        </p:spPr>
        <p:txBody>
          <a:bodyPr wrap="square" rtlCol="0" anchor="ctr"/>
          <a:lstStyle/>
          <a:p>
            <a:pPr marL="0" indent="0" algn="l">
              <a:buNone/>
            </a:pPr>
            <a:r>
              <a:rPr lang="en-US" sz="1050" dirty="0">
                <a:solidFill>
                  <a:srgbClr val="45556E"/>
                </a:solidFill>
                <a:latin typeface="Calibri" pitchFamily="34" charset="0"/>
                <a:ea typeface="Calibri" pitchFamily="34" charset="-122"/>
                <a:cs typeface="Calibri" pitchFamily="34" charset="-120"/>
              </a:rPr>
              <a:t>Frais Asghar  |  NUST · SMME</a:t>
            </a:r>
            <a:endParaRPr lang="en-US" sz="1050" dirty="0"/>
          </a:p>
        </p:txBody>
      </p:sp>
      <p:sp>
        <p:nvSpPr>
          <p:cNvPr id="10" name="Text 7"/>
          <p:cNvSpPr/>
          <p:nvPr/>
        </p:nvSpPr>
        <p:spPr>
          <a:xfrm>
            <a:off x="11274552" y="6473952"/>
            <a:ext cx="457200" cy="274320"/>
          </a:xfrm>
          <a:prstGeom prst="rect">
            <a:avLst/>
          </a:prstGeom>
          <a:noFill/>
          <a:ln/>
        </p:spPr>
        <p:txBody>
          <a:bodyPr wrap="square" rtlCol="0" anchor="ctr"/>
          <a:lstStyle/>
          <a:p>
            <a:pPr marL="0" indent="0" algn="r">
              <a:buNone/>
            </a:pPr>
            <a:r>
              <a:rPr lang="en-US" sz="1050" dirty="0">
                <a:solidFill>
                  <a:srgbClr val="45556E"/>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buNone/>
            </a:pPr>
            <a:r>
              <a:rPr lang="en-US" sz="3600" b="1" dirty="0">
                <a:solidFill>
                  <a:srgbClr val="18233C"/>
                </a:solidFill>
                <a:latin typeface="Cambria" pitchFamily="34" charset="0"/>
                <a:ea typeface="Cambria" pitchFamily="34" charset="-122"/>
                <a:cs typeface="Cambria" pitchFamily="34" charset="-120"/>
              </a:rPr>
              <a:t>Force Magnitudes at a Glance</a:t>
            </a:r>
            <a:endParaRPr lang="en-US" sz="3600" dirty="0"/>
          </a:p>
        </p:txBody>
      </p:sp>
      <p:sp>
        <p:nvSpPr>
          <p:cNvPr id="3" name="Text 1"/>
          <p:cNvSpPr/>
          <p:nvPr/>
        </p:nvSpPr>
        <p:spPr>
          <a:xfrm>
            <a:off x="548640" y="896112"/>
            <a:ext cx="11091672" cy="320040"/>
          </a:xfrm>
          <a:prstGeom prst="rect">
            <a:avLst/>
          </a:prstGeom>
          <a:noFill/>
          <a:ln/>
        </p:spPr>
        <p:txBody>
          <a:bodyPr wrap="square" rtlCol="0" anchor="ctr"/>
          <a:lstStyle/>
          <a:p>
            <a:pPr marL="0" indent="0">
              <a:buNone/>
            </a:pPr>
            <a:r>
              <a:rPr lang="en-US" sz="1600" i="1" dirty="0">
                <a:solidFill>
                  <a:srgbClr val="5B7B9C"/>
                </a:solidFill>
                <a:latin typeface="Calibri" pitchFamily="34" charset="0"/>
                <a:ea typeface="Calibri" pitchFamily="34" charset="-122"/>
                <a:cs typeface="Calibri" pitchFamily="34" charset="-120"/>
              </a:rPr>
              <a:t>External reactions vs. internal member forces</a:t>
            </a:r>
            <a:endParaRPr lang="en-US" sz="1600" dirty="0"/>
          </a:p>
        </p:txBody>
      </p:sp>
      <p:sp>
        <p:nvSpPr>
          <p:cNvPr id="4" name="Text 2"/>
          <p:cNvSpPr/>
          <p:nvPr/>
        </p:nvSpPr>
        <p:spPr>
          <a:xfrm>
            <a:off x="548640" y="1463040"/>
            <a:ext cx="5394960" cy="320040"/>
          </a:xfrm>
          <a:prstGeom prst="rect">
            <a:avLst/>
          </a:prstGeom>
          <a:noFill/>
          <a:ln/>
        </p:spPr>
        <p:txBody>
          <a:bodyPr wrap="square" rtlCol="0" anchor="ctr"/>
          <a:lstStyle/>
          <a:p>
            <a:pPr marL="0" indent="0">
              <a:buNone/>
            </a:pPr>
            <a:r>
              <a:rPr lang="en-US" b="1" dirty="0">
                <a:solidFill>
                  <a:srgbClr val="18233C"/>
                </a:solidFill>
                <a:latin typeface="Cambria" pitchFamily="34" charset="0"/>
                <a:ea typeface="Cambria" pitchFamily="34" charset="-122"/>
                <a:cs typeface="Cambria" pitchFamily="34" charset="-120"/>
              </a:rPr>
              <a:t>External Forces (N)</a:t>
            </a:r>
            <a:endParaRPr lang="en-US" dirty="0"/>
          </a:p>
        </p:txBody>
      </p:sp>
      <p:graphicFrame>
        <p:nvGraphicFramePr>
          <p:cNvPr id="5" name="Chart 0"/>
          <p:cNvGraphicFramePr/>
          <p:nvPr>
            <p:extLst>
              <p:ext uri="{D42A27DB-BD31-4B8C-83A1-F6EECF244321}">
                <p14:modId xmlns:p14="http://schemas.microsoft.com/office/powerpoint/2010/main" val="1585293719"/>
              </p:ext>
            </p:extLst>
          </p:nvPr>
        </p:nvGraphicFramePr>
        <p:xfrm>
          <a:off x="548640" y="1828800"/>
          <a:ext cx="539496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172200" y="1463040"/>
            <a:ext cx="5468112" cy="320040"/>
          </a:xfrm>
          <a:prstGeom prst="rect">
            <a:avLst/>
          </a:prstGeom>
          <a:noFill/>
          <a:ln/>
        </p:spPr>
        <p:txBody>
          <a:bodyPr wrap="square" rtlCol="0" anchor="ctr"/>
          <a:lstStyle/>
          <a:p>
            <a:pPr marL="0" indent="0">
              <a:buNone/>
            </a:pPr>
            <a:r>
              <a:rPr lang="en-US" b="1" dirty="0">
                <a:solidFill>
                  <a:srgbClr val="18233C"/>
                </a:solidFill>
                <a:latin typeface="Cambria" pitchFamily="34" charset="0"/>
                <a:ea typeface="Cambria" pitchFamily="34" charset="-122"/>
                <a:cs typeface="Cambria" pitchFamily="34" charset="-120"/>
              </a:rPr>
              <a:t>Internal Member Forces (N)</a:t>
            </a:r>
            <a:endParaRPr lang="en-US" dirty="0"/>
          </a:p>
        </p:txBody>
      </p:sp>
      <p:graphicFrame>
        <p:nvGraphicFramePr>
          <p:cNvPr id="7" name="Chart 1"/>
          <p:cNvGraphicFramePr/>
          <p:nvPr>
            <p:extLst>
              <p:ext uri="{D42A27DB-BD31-4B8C-83A1-F6EECF244321}">
                <p14:modId xmlns:p14="http://schemas.microsoft.com/office/powerpoint/2010/main" val="4113053545"/>
              </p:ext>
            </p:extLst>
          </p:nvPr>
        </p:nvGraphicFramePr>
        <p:xfrm>
          <a:off x="6172200" y="1828800"/>
          <a:ext cx="5468112"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457200" y="6473952"/>
            <a:ext cx="5486400" cy="274320"/>
          </a:xfrm>
          <a:prstGeom prst="rect">
            <a:avLst/>
          </a:prstGeom>
          <a:noFill/>
          <a:ln/>
        </p:spPr>
        <p:txBody>
          <a:bodyPr wrap="square" rtlCol="0" anchor="ctr"/>
          <a:lstStyle/>
          <a:p>
            <a:pPr marL="0" indent="0" algn="l">
              <a:buNone/>
            </a:pPr>
            <a:r>
              <a:rPr lang="en-US" sz="1050" dirty="0">
                <a:solidFill>
                  <a:srgbClr val="45556E"/>
                </a:solidFill>
                <a:latin typeface="Calibri" pitchFamily="34" charset="0"/>
                <a:ea typeface="Calibri" pitchFamily="34" charset="-122"/>
                <a:cs typeface="Calibri" pitchFamily="34" charset="-120"/>
              </a:rPr>
              <a:t>Frais Asghar  |  NUST · SMME</a:t>
            </a:r>
            <a:endParaRPr lang="en-US" sz="1050" dirty="0"/>
          </a:p>
        </p:txBody>
      </p:sp>
      <p:sp>
        <p:nvSpPr>
          <p:cNvPr id="9" name="Text 5"/>
          <p:cNvSpPr/>
          <p:nvPr/>
        </p:nvSpPr>
        <p:spPr>
          <a:xfrm>
            <a:off x="11274552" y="6473952"/>
            <a:ext cx="457200" cy="274320"/>
          </a:xfrm>
          <a:prstGeom prst="rect">
            <a:avLst/>
          </a:prstGeom>
          <a:noFill/>
          <a:ln/>
        </p:spPr>
        <p:txBody>
          <a:bodyPr wrap="square" rtlCol="0" anchor="ctr"/>
          <a:lstStyle/>
          <a:p>
            <a:pPr marL="0" indent="0" algn="r">
              <a:buNone/>
            </a:pPr>
            <a:r>
              <a:rPr lang="en-US" sz="1050" dirty="0">
                <a:solidFill>
                  <a:srgbClr val="45556E"/>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384048"/>
            <a:ext cx="11091672" cy="548640"/>
          </a:xfrm>
          <a:prstGeom prst="rect">
            <a:avLst/>
          </a:prstGeom>
          <a:noFill/>
          <a:ln/>
        </p:spPr>
        <p:txBody>
          <a:bodyPr wrap="square" rtlCol="0" anchor="ctr"/>
          <a:lstStyle/>
          <a:p>
            <a:pPr marL="0" indent="0">
              <a:buNone/>
            </a:pPr>
            <a:r>
              <a:rPr lang="en-US" sz="3600" b="1" dirty="0">
                <a:solidFill>
                  <a:srgbClr val="18233C"/>
                </a:solidFill>
                <a:latin typeface="Cambria" pitchFamily="34" charset="0"/>
                <a:ea typeface="Cambria" pitchFamily="34" charset="-122"/>
                <a:cs typeface="Cambria" pitchFamily="34" charset="-120"/>
              </a:rPr>
              <a:t>ANSYS Workbench Verification</a:t>
            </a:r>
            <a:endParaRPr lang="en-US" sz="3600" dirty="0"/>
          </a:p>
        </p:txBody>
      </p:sp>
      <p:sp>
        <p:nvSpPr>
          <p:cNvPr id="3" name="Text 1"/>
          <p:cNvSpPr/>
          <p:nvPr/>
        </p:nvSpPr>
        <p:spPr>
          <a:xfrm>
            <a:off x="548640" y="896112"/>
            <a:ext cx="11091672" cy="320040"/>
          </a:xfrm>
          <a:prstGeom prst="rect">
            <a:avLst/>
          </a:prstGeom>
          <a:noFill/>
          <a:ln/>
        </p:spPr>
        <p:txBody>
          <a:bodyPr wrap="square" rtlCol="0" anchor="ctr"/>
          <a:lstStyle/>
          <a:p>
            <a:pPr marL="0" indent="0">
              <a:buNone/>
            </a:pPr>
            <a:r>
              <a:rPr lang="en-US" sz="1600" i="1" dirty="0">
                <a:solidFill>
                  <a:srgbClr val="5B7B9C"/>
                </a:solidFill>
                <a:latin typeface="Calibri" pitchFamily="34" charset="0"/>
                <a:ea typeface="Calibri" pitchFamily="34" charset="-122"/>
                <a:cs typeface="Calibri" pitchFamily="34" charset="-120"/>
              </a:rPr>
              <a:t>Simulated axial force distribution vs. hand calculation</a:t>
            </a:r>
            <a:endParaRPr lang="en-US" sz="1600" dirty="0"/>
          </a:p>
        </p:txBody>
      </p:sp>
      <p:sp>
        <p:nvSpPr>
          <p:cNvPr id="4" name="Shape 2"/>
          <p:cNvSpPr/>
          <p:nvPr/>
        </p:nvSpPr>
        <p:spPr>
          <a:xfrm flipV="1">
            <a:off x="1097280" y="2578608"/>
            <a:ext cx="2633472" cy="2633472"/>
          </a:xfrm>
          <a:prstGeom prst="line">
            <a:avLst/>
          </a:prstGeom>
          <a:noFill/>
          <a:ln w="63500">
            <a:solidFill>
              <a:srgbClr val="B0413E"/>
            </a:solidFill>
            <a:prstDash val="solid"/>
          </a:ln>
        </p:spPr>
        <p:txBody>
          <a:bodyPr/>
          <a:lstStyle/>
          <a:p>
            <a:endParaRPr lang="en-US" sz="2400"/>
          </a:p>
        </p:txBody>
      </p:sp>
      <p:sp>
        <p:nvSpPr>
          <p:cNvPr id="5" name="Shape 3"/>
          <p:cNvSpPr/>
          <p:nvPr/>
        </p:nvSpPr>
        <p:spPr>
          <a:xfrm>
            <a:off x="3730752" y="2578608"/>
            <a:ext cx="2633472" cy="2633472"/>
          </a:xfrm>
          <a:prstGeom prst="line">
            <a:avLst/>
          </a:prstGeom>
          <a:noFill/>
          <a:ln w="63500">
            <a:solidFill>
              <a:srgbClr val="1E3A8A"/>
            </a:solidFill>
            <a:prstDash val="solid"/>
          </a:ln>
        </p:spPr>
        <p:txBody>
          <a:bodyPr/>
          <a:lstStyle/>
          <a:p>
            <a:endParaRPr lang="en-US" sz="2400"/>
          </a:p>
        </p:txBody>
      </p:sp>
      <p:sp>
        <p:nvSpPr>
          <p:cNvPr id="6" name="Shape 4"/>
          <p:cNvSpPr/>
          <p:nvPr/>
        </p:nvSpPr>
        <p:spPr>
          <a:xfrm flipV="1">
            <a:off x="3730752" y="2578608"/>
            <a:ext cx="914" cy="2633472"/>
          </a:xfrm>
          <a:prstGeom prst="line">
            <a:avLst/>
          </a:prstGeom>
          <a:noFill/>
          <a:ln w="63500">
            <a:solidFill>
              <a:srgbClr val="2E7D5B"/>
            </a:solidFill>
            <a:prstDash val="solid"/>
          </a:ln>
        </p:spPr>
        <p:txBody>
          <a:bodyPr/>
          <a:lstStyle/>
          <a:p>
            <a:endParaRPr lang="en-US" sz="2400"/>
          </a:p>
        </p:txBody>
      </p:sp>
      <p:sp>
        <p:nvSpPr>
          <p:cNvPr id="7" name="Shape 5"/>
          <p:cNvSpPr/>
          <p:nvPr/>
        </p:nvSpPr>
        <p:spPr>
          <a:xfrm>
            <a:off x="1097280" y="5212080"/>
            <a:ext cx="2633472" cy="914"/>
          </a:xfrm>
          <a:prstGeom prst="line">
            <a:avLst/>
          </a:prstGeom>
          <a:noFill/>
          <a:ln w="63500">
            <a:solidFill>
              <a:srgbClr val="B0413E"/>
            </a:solidFill>
            <a:prstDash val="solid"/>
          </a:ln>
        </p:spPr>
        <p:txBody>
          <a:bodyPr/>
          <a:lstStyle/>
          <a:p>
            <a:endParaRPr lang="en-US" sz="2400"/>
          </a:p>
        </p:txBody>
      </p:sp>
      <p:sp>
        <p:nvSpPr>
          <p:cNvPr id="8" name="Shape 6"/>
          <p:cNvSpPr/>
          <p:nvPr/>
        </p:nvSpPr>
        <p:spPr>
          <a:xfrm>
            <a:off x="3730752" y="5212080"/>
            <a:ext cx="2633472" cy="914"/>
          </a:xfrm>
          <a:prstGeom prst="line">
            <a:avLst/>
          </a:prstGeom>
          <a:noFill/>
          <a:ln w="63500">
            <a:solidFill>
              <a:srgbClr val="1E3A8A"/>
            </a:solidFill>
            <a:prstDash val="solid"/>
          </a:ln>
        </p:spPr>
        <p:txBody>
          <a:bodyPr/>
          <a:lstStyle/>
          <a:p>
            <a:endParaRPr lang="en-US" sz="2400"/>
          </a:p>
        </p:txBody>
      </p:sp>
      <p:sp>
        <p:nvSpPr>
          <p:cNvPr id="9" name="Shape 7"/>
          <p:cNvSpPr/>
          <p:nvPr/>
        </p:nvSpPr>
        <p:spPr>
          <a:xfrm>
            <a:off x="1033272" y="5148072"/>
            <a:ext cx="128016" cy="128016"/>
          </a:xfrm>
          <a:prstGeom prst="ellipse">
            <a:avLst/>
          </a:prstGeom>
          <a:solidFill>
            <a:srgbClr val="18233C"/>
          </a:solidFill>
          <a:ln w="12700">
            <a:solidFill>
              <a:srgbClr val="18233C"/>
            </a:solidFill>
            <a:prstDash val="solid"/>
          </a:ln>
        </p:spPr>
        <p:txBody>
          <a:bodyPr/>
          <a:lstStyle/>
          <a:p>
            <a:endParaRPr lang="en-US" sz="2400"/>
          </a:p>
        </p:txBody>
      </p:sp>
      <p:sp>
        <p:nvSpPr>
          <p:cNvPr id="10" name="Shape 8"/>
          <p:cNvSpPr/>
          <p:nvPr/>
        </p:nvSpPr>
        <p:spPr>
          <a:xfrm>
            <a:off x="3666744" y="5148072"/>
            <a:ext cx="128016" cy="128016"/>
          </a:xfrm>
          <a:prstGeom prst="ellipse">
            <a:avLst/>
          </a:prstGeom>
          <a:solidFill>
            <a:srgbClr val="18233C"/>
          </a:solidFill>
          <a:ln w="12700">
            <a:solidFill>
              <a:srgbClr val="18233C"/>
            </a:solidFill>
            <a:prstDash val="solid"/>
          </a:ln>
        </p:spPr>
        <p:txBody>
          <a:bodyPr/>
          <a:lstStyle/>
          <a:p>
            <a:endParaRPr lang="en-US" sz="2400"/>
          </a:p>
        </p:txBody>
      </p:sp>
      <p:sp>
        <p:nvSpPr>
          <p:cNvPr id="11" name="Shape 9"/>
          <p:cNvSpPr/>
          <p:nvPr/>
        </p:nvSpPr>
        <p:spPr>
          <a:xfrm>
            <a:off x="6300216" y="5148072"/>
            <a:ext cx="128016" cy="128016"/>
          </a:xfrm>
          <a:prstGeom prst="ellipse">
            <a:avLst/>
          </a:prstGeom>
          <a:solidFill>
            <a:srgbClr val="18233C"/>
          </a:solidFill>
          <a:ln w="12700">
            <a:solidFill>
              <a:srgbClr val="18233C"/>
            </a:solidFill>
            <a:prstDash val="solid"/>
          </a:ln>
        </p:spPr>
        <p:txBody>
          <a:bodyPr/>
          <a:lstStyle/>
          <a:p>
            <a:endParaRPr lang="en-US" sz="2400"/>
          </a:p>
        </p:txBody>
      </p:sp>
      <p:sp>
        <p:nvSpPr>
          <p:cNvPr id="12" name="Shape 10"/>
          <p:cNvSpPr/>
          <p:nvPr/>
        </p:nvSpPr>
        <p:spPr>
          <a:xfrm>
            <a:off x="3666744" y="2514600"/>
            <a:ext cx="128016" cy="128016"/>
          </a:xfrm>
          <a:prstGeom prst="ellipse">
            <a:avLst/>
          </a:prstGeom>
          <a:solidFill>
            <a:srgbClr val="18233C"/>
          </a:solidFill>
          <a:ln w="12700">
            <a:solidFill>
              <a:srgbClr val="18233C"/>
            </a:solidFill>
            <a:prstDash val="solid"/>
          </a:ln>
        </p:spPr>
        <p:txBody>
          <a:bodyPr/>
          <a:lstStyle/>
          <a:p>
            <a:endParaRPr lang="en-US" sz="2400"/>
          </a:p>
        </p:txBody>
      </p:sp>
      <p:sp>
        <p:nvSpPr>
          <p:cNvPr id="13" name="Text 11"/>
          <p:cNvSpPr/>
          <p:nvPr/>
        </p:nvSpPr>
        <p:spPr>
          <a:xfrm>
            <a:off x="822960" y="5532120"/>
            <a:ext cx="5943600" cy="274320"/>
          </a:xfrm>
          <a:prstGeom prst="rect">
            <a:avLst/>
          </a:prstGeom>
          <a:noFill/>
          <a:ln/>
        </p:spPr>
        <p:txBody>
          <a:bodyPr wrap="square" rtlCol="0" anchor="ctr"/>
          <a:lstStyle/>
          <a:p>
            <a:pPr marL="0" indent="0">
              <a:buNone/>
            </a:pPr>
            <a:r>
              <a:rPr lang="en-US" sz="1100" i="1" dirty="0">
                <a:solidFill>
                  <a:srgbClr val="45556E"/>
                </a:solidFill>
                <a:latin typeface="Calibri" pitchFamily="34" charset="0"/>
                <a:ea typeface="Calibri" pitchFamily="34" charset="-122"/>
                <a:cs typeface="Calibri" pitchFamily="34" charset="-120"/>
              </a:rPr>
              <a:t>(Colors mirror the ANSYS axial-force contour legend)</a:t>
            </a:r>
            <a:endParaRPr lang="en-US" sz="1100" dirty="0"/>
          </a:p>
        </p:txBody>
      </p:sp>
      <p:sp>
        <p:nvSpPr>
          <p:cNvPr id="14" name="Shape 12"/>
          <p:cNvSpPr/>
          <p:nvPr/>
        </p:nvSpPr>
        <p:spPr>
          <a:xfrm>
            <a:off x="822960" y="1463040"/>
            <a:ext cx="320040" cy="201168"/>
          </a:xfrm>
          <a:prstGeom prst="rect">
            <a:avLst/>
          </a:prstGeom>
          <a:solidFill>
            <a:srgbClr val="B0413E"/>
          </a:solidFill>
          <a:ln w="12700">
            <a:solidFill>
              <a:srgbClr val="B0413E"/>
            </a:solidFill>
            <a:prstDash val="solid"/>
          </a:ln>
        </p:spPr>
        <p:txBody>
          <a:bodyPr/>
          <a:lstStyle/>
          <a:p>
            <a:endParaRPr lang="en-US" sz="2400"/>
          </a:p>
        </p:txBody>
      </p:sp>
      <p:sp>
        <p:nvSpPr>
          <p:cNvPr id="15" name="Text 13"/>
          <p:cNvSpPr/>
          <p:nvPr/>
        </p:nvSpPr>
        <p:spPr>
          <a:xfrm>
            <a:off x="1280160" y="1417320"/>
            <a:ext cx="1828800" cy="292608"/>
          </a:xfrm>
          <a:prstGeom prst="rect">
            <a:avLst/>
          </a:prstGeom>
          <a:noFill/>
          <a:ln/>
        </p:spPr>
        <p:txBody>
          <a:bodyPr wrap="square" rtlCol="0" anchor="ctr"/>
          <a:lstStyle/>
          <a:p>
            <a:pPr marL="0" indent="0">
              <a:buNone/>
            </a:pPr>
            <a:r>
              <a:rPr lang="en-US" sz="1600" dirty="0">
                <a:solidFill>
                  <a:srgbClr val="18233C"/>
                </a:solidFill>
                <a:latin typeface="Calibri" pitchFamily="34" charset="0"/>
                <a:ea typeface="Calibri" pitchFamily="34" charset="-122"/>
                <a:cs typeface="Calibri" pitchFamily="34" charset="-120"/>
              </a:rPr>
              <a:t>212.13 Max</a:t>
            </a:r>
            <a:endParaRPr lang="en-US" sz="1600" dirty="0"/>
          </a:p>
        </p:txBody>
      </p:sp>
      <p:sp>
        <p:nvSpPr>
          <p:cNvPr id="16" name="Shape 14"/>
          <p:cNvSpPr/>
          <p:nvPr/>
        </p:nvSpPr>
        <p:spPr>
          <a:xfrm>
            <a:off x="822960" y="1847088"/>
            <a:ext cx="320040" cy="201168"/>
          </a:xfrm>
          <a:prstGeom prst="rect">
            <a:avLst/>
          </a:prstGeom>
          <a:solidFill>
            <a:srgbClr val="2E7D5B"/>
          </a:solidFill>
          <a:ln w="12700">
            <a:solidFill>
              <a:srgbClr val="2E7D5B"/>
            </a:solidFill>
            <a:prstDash val="solid"/>
          </a:ln>
        </p:spPr>
        <p:txBody>
          <a:bodyPr/>
          <a:lstStyle/>
          <a:p>
            <a:endParaRPr lang="en-US" sz="2400"/>
          </a:p>
        </p:txBody>
      </p:sp>
      <p:sp>
        <p:nvSpPr>
          <p:cNvPr id="17" name="Text 15"/>
          <p:cNvSpPr/>
          <p:nvPr/>
        </p:nvSpPr>
        <p:spPr>
          <a:xfrm>
            <a:off x="1280160" y="1801368"/>
            <a:ext cx="1828800" cy="292608"/>
          </a:xfrm>
          <a:prstGeom prst="rect">
            <a:avLst/>
          </a:prstGeom>
          <a:noFill/>
          <a:ln/>
        </p:spPr>
        <p:txBody>
          <a:bodyPr wrap="square" rtlCol="0" anchor="ctr"/>
          <a:lstStyle/>
          <a:p>
            <a:pPr marL="0" indent="0">
              <a:buNone/>
            </a:pPr>
            <a:r>
              <a:rPr lang="en-US" sz="1600" dirty="0">
                <a:solidFill>
                  <a:srgbClr val="18233C"/>
                </a:solidFill>
                <a:latin typeface="Calibri" pitchFamily="34" charset="0"/>
                <a:ea typeface="Calibri" pitchFamily="34" charset="-122"/>
                <a:cs typeface="Calibri" pitchFamily="34" charset="-120"/>
              </a:rPr>
              <a:t>0.00 (BD)</a:t>
            </a:r>
            <a:endParaRPr lang="en-US" sz="1600" dirty="0"/>
          </a:p>
        </p:txBody>
      </p:sp>
      <p:sp>
        <p:nvSpPr>
          <p:cNvPr id="18" name="Shape 16"/>
          <p:cNvSpPr/>
          <p:nvPr/>
        </p:nvSpPr>
        <p:spPr>
          <a:xfrm>
            <a:off x="822960" y="2231136"/>
            <a:ext cx="320040" cy="201168"/>
          </a:xfrm>
          <a:prstGeom prst="rect">
            <a:avLst/>
          </a:prstGeom>
          <a:solidFill>
            <a:srgbClr val="1E3A8A"/>
          </a:solidFill>
          <a:ln w="12700">
            <a:solidFill>
              <a:srgbClr val="1E3A8A"/>
            </a:solidFill>
            <a:prstDash val="solid"/>
          </a:ln>
        </p:spPr>
        <p:txBody>
          <a:bodyPr/>
          <a:lstStyle/>
          <a:p>
            <a:endParaRPr lang="en-US" sz="2400"/>
          </a:p>
        </p:txBody>
      </p:sp>
      <p:sp>
        <p:nvSpPr>
          <p:cNvPr id="19" name="Text 17"/>
          <p:cNvSpPr/>
          <p:nvPr/>
        </p:nvSpPr>
        <p:spPr>
          <a:xfrm>
            <a:off x="1280160" y="2185416"/>
            <a:ext cx="1828800" cy="292608"/>
          </a:xfrm>
          <a:prstGeom prst="rect">
            <a:avLst/>
          </a:prstGeom>
          <a:noFill/>
          <a:ln/>
        </p:spPr>
        <p:txBody>
          <a:bodyPr wrap="square" rtlCol="0" anchor="ctr"/>
          <a:lstStyle/>
          <a:p>
            <a:pPr marL="0" indent="0">
              <a:buNone/>
            </a:pPr>
            <a:r>
              <a:rPr lang="en-US" sz="1600" dirty="0">
                <a:solidFill>
                  <a:srgbClr val="18233C"/>
                </a:solidFill>
                <a:latin typeface="Calibri" pitchFamily="34" charset="0"/>
                <a:ea typeface="Calibri" pitchFamily="34" charset="-122"/>
                <a:cs typeface="Calibri" pitchFamily="34" charset="-120"/>
              </a:rPr>
              <a:t>−212.13 Min</a:t>
            </a:r>
            <a:endParaRPr lang="en-US" sz="1600" dirty="0"/>
          </a:p>
        </p:txBody>
      </p:sp>
      <p:sp>
        <p:nvSpPr>
          <p:cNvPr id="20" name="Shape 18"/>
          <p:cNvSpPr/>
          <p:nvPr/>
        </p:nvSpPr>
        <p:spPr>
          <a:xfrm>
            <a:off x="6492240" y="1417320"/>
            <a:ext cx="5120640" cy="1051560"/>
          </a:xfrm>
          <a:prstGeom prst="roundRect">
            <a:avLst>
              <a:gd name="adj" fmla="val 6087"/>
            </a:avLst>
          </a:prstGeom>
          <a:ln/>
        </p:spPr>
        <p:style>
          <a:lnRef idx="1">
            <a:schemeClr val="accent2"/>
          </a:lnRef>
          <a:fillRef idx="3">
            <a:schemeClr val="accent2"/>
          </a:fillRef>
          <a:effectRef idx="2">
            <a:schemeClr val="accent2"/>
          </a:effectRef>
          <a:fontRef idx="minor">
            <a:schemeClr val="lt1"/>
          </a:fontRef>
        </p:style>
        <p:txBody>
          <a:bodyPr/>
          <a:lstStyle/>
          <a:p>
            <a:endParaRPr lang="en-US" sz="2400"/>
          </a:p>
        </p:txBody>
      </p:sp>
      <p:sp>
        <p:nvSpPr>
          <p:cNvPr id="21" name="Text 19"/>
          <p:cNvSpPr/>
          <p:nvPr/>
        </p:nvSpPr>
        <p:spPr>
          <a:xfrm>
            <a:off x="6720840" y="1508760"/>
            <a:ext cx="4663440" cy="320040"/>
          </a:xfrm>
          <a:prstGeom prst="rect">
            <a:avLst/>
          </a:prstGeom>
          <a:noFill/>
          <a:ln/>
        </p:spPr>
        <p:txBody>
          <a:bodyPr wrap="square" rtlCol="0" anchor="ctr"/>
          <a:lstStyle/>
          <a:p>
            <a:pPr marL="0" indent="0">
              <a:buNone/>
            </a:pPr>
            <a:r>
              <a:rPr lang="en-US" sz="1600" b="1" dirty="0">
                <a:solidFill>
                  <a:srgbClr val="18233C"/>
                </a:solidFill>
                <a:latin typeface="Cambria" pitchFamily="34" charset="0"/>
                <a:ea typeface="Cambria" pitchFamily="34" charset="-122"/>
                <a:cs typeface="Cambria" pitchFamily="34" charset="-120"/>
              </a:rPr>
              <a:t>Max Axial Force</a:t>
            </a:r>
            <a:endParaRPr lang="en-US" sz="1600" dirty="0"/>
          </a:p>
        </p:txBody>
      </p:sp>
      <p:sp>
        <p:nvSpPr>
          <p:cNvPr id="22" name="Text 20"/>
          <p:cNvSpPr/>
          <p:nvPr/>
        </p:nvSpPr>
        <p:spPr>
          <a:xfrm>
            <a:off x="6720840" y="1874520"/>
            <a:ext cx="4663440" cy="502920"/>
          </a:xfrm>
          <a:prstGeom prst="rect">
            <a:avLst/>
          </a:prstGeom>
          <a:noFill/>
          <a:ln/>
        </p:spPr>
        <p:txBody>
          <a:bodyPr wrap="square" rtlCol="0" anchor="ctr"/>
          <a:lstStyle/>
          <a:p>
            <a:pPr marL="0" indent="0">
              <a:buNone/>
            </a:pPr>
            <a:r>
              <a:rPr lang="en-US" sz="1400" b="1" dirty="0">
                <a:solidFill>
                  <a:srgbClr val="5B7B9C"/>
                </a:solidFill>
                <a:latin typeface="Calibri" pitchFamily="34" charset="0"/>
                <a:ea typeface="Calibri" pitchFamily="34" charset="-122"/>
                <a:cs typeface="Calibri" pitchFamily="34" charset="-120"/>
              </a:rPr>
              <a:t>Manual: </a:t>
            </a:r>
            <a:r>
              <a:rPr lang="en-US" sz="1400" dirty="0">
                <a:solidFill>
                  <a:srgbClr val="45556E"/>
                </a:solidFill>
                <a:latin typeface="Calibri" pitchFamily="34" charset="0"/>
                <a:ea typeface="Calibri" pitchFamily="34" charset="-122"/>
                <a:cs typeface="Calibri" pitchFamily="34" charset="-120"/>
              </a:rPr>
              <a:t>212.13 N (AD, Tension)    </a:t>
            </a:r>
            <a:r>
              <a:rPr lang="en-US" sz="1400" b="1" dirty="0">
                <a:solidFill>
                  <a:srgbClr val="FF0000"/>
                </a:solidFill>
                <a:latin typeface="Calibri" pitchFamily="34" charset="0"/>
                <a:ea typeface="Calibri" pitchFamily="34" charset="-122"/>
                <a:cs typeface="Calibri" pitchFamily="34" charset="-120"/>
              </a:rPr>
              <a:t>ANSYS</a:t>
            </a:r>
            <a:r>
              <a:rPr lang="en-US" sz="1400" b="1" dirty="0">
                <a:solidFill>
                  <a:srgbClr val="E8912D"/>
                </a:solidFill>
                <a:latin typeface="Calibri" pitchFamily="34" charset="0"/>
                <a:ea typeface="Calibri" pitchFamily="34" charset="-122"/>
                <a:cs typeface="Calibri" pitchFamily="34" charset="-120"/>
              </a:rPr>
              <a:t>: </a:t>
            </a:r>
            <a:r>
              <a:rPr lang="en-US" sz="1400" dirty="0">
                <a:solidFill>
                  <a:srgbClr val="45556E"/>
                </a:solidFill>
                <a:latin typeface="Calibri" pitchFamily="34" charset="0"/>
                <a:ea typeface="Calibri" pitchFamily="34" charset="-122"/>
                <a:cs typeface="Calibri" pitchFamily="34" charset="-120"/>
              </a:rPr>
              <a:t>212.13 N</a:t>
            </a:r>
            <a:endParaRPr lang="en-US" sz="1400" dirty="0"/>
          </a:p>
        </p:txBody>
      </p:sp>
      <p:sp>
        <p:nvSpPr>
          <p:cNvPr id="23" name="Shape 21"/>
          <p:cNvSpPr/>
          <p:nvPr/>
        </p:nvSpPr>
        <p:spPr>
          <a:xfrm>
            <a:off x="6492240" y="2606040"/>
            <a:ext cx="5120640" cy="1051560"/>
          </a:xfrm>
          <a:prstGeom prst="roundRect">
            <a:avLst>
              <a:gd name="adj" fmla="val 6087"/>
            </a:avLst>
          </a:prstGeom>
          <a:solidFill>
            <a:srgbClr val="002060"/>
          </a:solidFill>
          <a:ln/>
        </p:spPr>
        <p:style>
          <a:lnRef idx="1">
            <a:schemeClr val="accent1"/>
          </a:lnRef>
          <a:fillRef idx="3">
            <a:schemeClr val="accent1"/>
          </a:fillRef>
          <a:effectRef idx="2">
            <a:schemeClr val="accent1"/>
          </a:effectRef>
          <a:fontRef idx="minor">
            <a:schemeClr val="lt1"/>
          </a:fontRef>
        </p:style>
        <p:txBody>
          <a:bodyPr/>
          <a:lstStyle/>
          <a:p>
            <a:endParaRPr lang="en-US" sz="2400"/>
          </a:p>
        </p:txBody>
      </p:sp>
      <p:sp>
        <p:nvSpPr>
          <p:cNvPr id="24" name="Text 22"/>
          <p:cNvSpPr/>
          <p:nvPr/>
        </p:nvSpPr>
        <p:spPr>
          <a:xfrm>
            <a:off x="6720840" y="2697480"/>
            <a:ext cx="4663440" cy="320040"/>
          </a:xfrm>
          <a:prstGeom prst="rect">
            <a:avLst/>
          </a:prstGeom>
          <a:noFill/>
          <a:ln/>
        </p:spPr>
        <p:txBody>
          <a:bodyPr wrap="square" rtlCol="0" anchor="ctr"/>
          <a:lstStyle/>
          <a:p>
            <a:pPr marL="0" indent="0">
              <a:buNone/>
            </a:pPr>
            <a:r>
              <a:rPr lang="en-US" sz="1600" b="1" dirty="0">
                <a:solidFill>
                  <a:schemeClr val="bg1"/>
                </a:solidFill>
                <a:latin typeface="Cambria" pitchFamily="34" charset="0"/>
                <a:ea typeface="Cambria" pitchFamily="34" charset="-122"/>
                <a:cs typeface="Cambria" pitchFamily="34" charset="-120"/>
              </a:rPr>
              <a:t>Min Axial Force</a:t>
            </a:r>
            <a:endParaRPr lang="en-US" sz="1600" dirty="0">
              <a:solidFill>
                <a:schemeClr val="bg1"/>
              </a:solidFill>
            </a:endParaRPr>
          </a:p>
        </p:txBody>
      </p:sp>
      <p:sp>
        <p:nvSpPr>
          <p:cNvPr id="25" name="Text 23"/>
          <p:cNvSpPr/>
          <p:nvPr/>
        </p:nvSpPr>
        <p:spPr>
          <a:xfrm>
            <a:off x="6720840" y="3063240"/>
            <a:ext cx="4663440" cy="502920"/>
          </a:xfrm>
          <a:prstGeom prst="rect">
            <a:avLst/>
          </a:prstGeom>
          <a:noFill/>
          <a:ln/>
        </p:spPr>
        <p:txBody>
          <a:bodyPr wrap="square" rtlCol="0" anchor="ctr"/>
          <a:lstStyle/>
          <a:p>
            <a:pPr marL="0" indent="0">
              <a:buNone/>
            </a:pPr>
            <a:r>
              <a:rPr lang="en-US" sz="1400" b="1" dirty="0">
                <a:solidFill>
                  <a:srgbClr val="5B7B9C"/>
                </a:solidFill>
                <a:latin typeface="Calibri" pitchFamily="34" charset="0"/>
                <a:ea typeface="Calibri" pitchFamily="34" charset="-122"/>
                <a:cs typeface="Calibri" pitchFamily="34" charset="-120"/>
              </a:rPr>
              <a:t>Manual: </a:t>
            </a:r>
            <a:r>
              <a:rPr lang="en-US" sz="1400" dirty="0">
                <a:solidFill>
                  <a:schemeClr val="bg1">
                    <a:lumMod val="75000"/>
                  </a:schemeClr>
                </a:solidFill>
                <a:latin typeface="Calibri" pitchFamily="34" charset="0"/>
                <a:ea typeface="Calibri" pitchFamily="34" charset="-122"/>
                <a:cs typeface="Calibri" pitchFamily="34" charset="-120"/>
              </a:rPr>
              <a:t>−212.13 N (CD, Compression)    </a:t>
            </a:r>
            <a:r>
              <a:rPr lang="en-US" sz="1400" b="1" dirty="0">
                <a:solidFill>
                  <a:srgbClr val="FF0000"/>
                </a:solidFill>
                <a:latin typeface="Calibri" pitchFamily="34" charset="0"/>
                <a:ea typeface="Calibri" pitchFamily="34" charset="-122"/>
                <a:cs typeface="Calibri" pitchFamily="34" charset="-120"/>
              </a:rPr>
              <a:t>ANSYS</a:t>
            </a:r>
            <a:r>
              <a:rPr lang="en-US" sz="1400" b="1" dirty="0">
                <a:solidFill>
                  <a:srgbClr val="E8912D"/>
                </a:solidFill>
                <a:latin typeface="Calibri" pitchFamily="34" charset="0"/>
                <a:ea typeface="Calibri" pitchFamily="34" charset="-122"/>
                <a:cs typeface="Calibri" pitchFamily="34" charset="-120"/>
              </a:rPr>
              <a:t>: </a:t>
            </a:r>
            <a:r>
              <a:rPr lang="en-US" sz="1400" dirty="0">
                <a:solidFill>
                  <a:schemeClr val="bg1">
                    <a:lumMod val="75000"/>
                  </a:schemeClr>
                </a:solidFill>
                <a:latin typeface="Calibri" pitchFamily="34" charset="0"/>
                <a:ea typeface="Calibri" pitchFamily="34" charset="-122"/>
                <a:cs typeface="Calibri" pitchFamily="34" charset="-120"/>
              </a:rPr>
              <a:t>−212.13 N</a:t>
            </a:r>
            <a:endParaRPr lang="en-US" sz="1400" dirty="0">
              <a:solidFill>
                <a:schemeClr val="bg1">
                  <a:lumMod val="75000"/>
                </a:schemeClr>
              </a:solidFill>
            </a:endParaRPr>
          </a:p>
        </p:txBody>
      </p:sp>
      <p:sp>
        <p:nvSpPr>
          <p:cNvPr id="26" name="Shape 24"/>
          <p:cNvSpPr/>
          <p:nvPr/>
        </p:nvSpPr>
        <p:spPr>
          <a:xfrm>
            <a:off x="6492240" y="3794760"/>
            <a:ext cx="5120640" cy="1051560"/>
          </a:xfrm>
          <a:prstGeom prst="roundRect">
            <a:avLst>
              <a:gd name="adj" fmla="val 6087"/>
            </a:avLst>
          </a:prstGeom>
          <a:solidFill>
            <a:srgbClr val="006600"/>
          </a:solidFill>
          <a:ln/>
        </p:spPr>
        <p:style>
          <a:lnRef idx="1">
            <a:schemeClr val="accent6"/>
          </a:lnRef>
          <a:fillRef idx="3">
            <a:schemeClr val="accent6"/>
          </a:fillRef>
          <a:effectRef idx="2">
            <a:schemeClr val="accent6"/>
          </a:effectRef>
          <a:fontRef idx="minor">
            <a:schemeClr val="lt1"/>
          </a:fontRef>
        </p:style>
        <p:txBody>
          <a:bodyPr/>
          <a:lstStyle/>
          <a:p>
            <a:endParaRPr lang="en-US" sz="2400"/>
          </a:p>
        </p:txBody>
      </p:sp>
      <p:sp>
        <p:nvSpPr>
          <p:cNvPr id="27" name="Text 25"/>
          <p:cNvSpPr/>
          <p:nvPr/>
        </p:nvSpPr>
        <p:spPr>
          <a:xfrm>
            <a:off x="6720840" y="3886200"/>
            <a:ext cx="4663440" cy="320040"/>
          </a:xfrm>
          <a:prstGeom prst="rect">
            <a:avLst/>
          </a:prstGeom>
          <a:noFill/>
          <a:ln/>
        </p:spPr>
        <p:txBody>
          <a:bodyPr wrap="square" rtlCol="0" anchor="ctr"/>
          <a:lstStyle/>
          <a:p>
            <a:pPr marL="0" indent="0">
              <a:buNone/>
            </a:pPr>
            <a:r>
              <a:rPr lang="en-US" sz="1600" b="1" dirty="0">
                <a:solidFill>
                  <a:schemeClr val="bg1"/>
                </a:solidFill>
                <a:latin typeface="Cambria" pitchFamily="34" charset="0"/>
                <a:ea typeface="Cambria" pitchFamily="34" charset="-122"/>
                <a:cs typeface="Cambria" pitchFamily="34" charset="-120"/>
              </a:rPr>
              <a:t>Zero-Force Member</a:t>
            </a:r>
            <a:endParaRPr lang="en-US" sz="1600" dirty="0">
              <a:solidFill>
                <a:schemeClr val="bg1"/>
              </a:solidFill>
            </a:endParaRPr>
          </a:p>
        </p:txBody>
      </p:sp>
      <p:sp>
        <p:nvSpPr>
          <p:cNvPr id="28" name="Text 26"/>
          <p:cNvSpPr/>
          <p:nvPr/>
        </p:nvSpPr>
        <p:spPr>
          <a:xfrm>
            <a:off x="6720840" y="4251960"/>
            <a:ext cx="4663440" cy="502920"/>
          </a:xfrm>
          <a:prstGeom prst="rect">
            <a:avLst/>
          </a:prstGeom>
          <a:noFill/>
          <a:ln/>
        </p:spPr>
        <p:txBody>
          <a:bodyPr wrap="square" rtlCol="0" anchor="ctr"/>
          <a:lstStyle/>
          <a:p>
            <a:pPr marL="0" indent="0">
              <a:buNone/>
            </a:pPr>
            <a:r>
              <a:rPr lang="en-US" sz="1400" b="1" dirty="0">
                <a:solidFill>
                  <a:srgbClr val="5B7B9C"/>
                </a:solidFill>
                <a:latin typeface="Calibri" pitchFamily="34" charset="0"/>
                <a:ea typeface="Calibri" pitchFamily="34" charset="-122"/>
                <a:cs typeface="Calibri" pitchFamily="34" charset="-120"/>
              </a:rPr>
              <a:t>Manual: </a:t>
            </a:r>
            <a:r>
              <a:rPr lang="en-US" sz="1400" dirty="0">
                <a:solidFill>
                  <a:schemeClr val="bg1">
                    <a:lumMod val="75000"/>
                  </a:schemeClr>
                </a:solidFill>
                <a:latin typeface="Calibri" pitchFamily="34" charset="0"/>
                <a:ea typeface="Calibri" pitchFamily="34" charset="-122"/>
                <a:cs typeface="Calibri" pitchFamily="34" charset="-120"/>
              </a:rPr>
              <a:t>BD = 0 N    </a:t>
            </a:r>
            <a:r>
              <a:rPr lang="en-US" sz="1400" b="1" dirty="0">
                <a:solidFill>
                  <a:srgbClr val="FF0000"/>
                </a:solidFill>
                <a:latin typeface="Calibri" pitchFamily="34" charset="0"/>
                <a:ea typeface="Calibri" pitchFamily="34" charset="-122"/>
                <a:cs typeface="Calibri" pitchFamily="34" charset="-120"/>
              </a:rPr>
              <a:t>ANSYS</a:t>
            </a:r>
            <a:r>
              <a:rPr lang="en-US" sz="1400" b="1" dirty="0">
                <a:solidFill>
                  <a:srgbClr val="E8912D"/>
                </a:solidFill>
                <a:latin typeface="Calibri" pitchFamily="34" charset="0"/>
                <a:ea typeface="Calibri" pitchFamily="34" charset="-122"/>
                <a:cs typeface="Calibri" pitchFamily="34" charset="-120"/>
              </a:rPr>
              <a:t>: </a:t>
            </a:r>
            <a:r>
              <a:rPr lang="en-US" sz="1400" dirty="0">
                <a:solidFill>
                  <a:schemeClr val="bg1">
                    <a:lumMod val="75000"/>
                  </a:schemeClr>
                </a:solidFill>
                <a:latin typeface="Calibri" pitchFamily="34" charset="0"/>
                <a:ea typeface="Calibri" pitchFamily="34" charset="-122"/>
                <a:cs typeface="Calibri" pitchFamily="34" charset="-120"/>
              </a:rPr>
              <a:t>BD ≈ 0 N (green)</a:t>
            </a:r>
            <a:endParaRPr lang="en-US" sz="1400" dirty="0">
              <a:solidFill>
                <a:schemeClr val="bg1">
                  <a:lumMod val="75000"/>
                </a:schemeClr>
              </a:solidFill>
            </a:endParaRPr>
          </a:p>
        </p:txBody>
      </p:sp>
      <p:sp>
        <p:nvSpPr>
          <p:cNvPr id="29" name="Text 27"/>
          <p:cNvSpPr/>
          <p:nvPr/>
        </p:nvSpPr>
        <p:spPr>
          <a:xfrm>
            <a:off x="457200" y="6473952"/>
            <a:ext cx="5486400" cy="274320"/>
          </a:xfrm>
          <a:prstGeom prst="rect">
            <a:avLst/>
          </a:prstGeom>
          <a:noFill/>
          <a:ln/>
        </p:spPr>
        <p:txBody>
          <a:bodyPr wrap="square" rtlCol="0" anchor="ctr"/>
          <a:lstStyle/>
          <a:p>
            <a:pPr marL="0" indent="0" algn="l">
              <a:buNone/>
            </a:pPr>
            <a:r>
              <a:rPr lang="en-US" sz="1050" dirty="0">
                <a:solidFill>
                  <a:srgbClr val="45556E"/>
                </a:solidFill>
                <a:latin typeface="Calibri" pitchFamily="34" charset="0"/>
                <a:ea typeface="Calibri" pitchFamily="34" charset="-122"/>
                <a:cs typeface="Calibri" pitchFamily="34" charset="-120"/>
              </a:rPr>
              <a:t>Frais Asghar  |  NUST · SMME</a:t>
            </a:r>
            <a:endParaRPr lang="en-US" sz="1050" dirty="0"/>
          </a:p>
        </p:txBody>
      </p:sp>
      <p:sp>
        <p:nvSpPr>
          <p:cNvPr id="30" name="Text 28"/>
          <p:cNvSpPr/>
          <p:nvPr/>
        </p:nvSpPr>
        <p:spPr>
          <a:xfrm>
            <a:off x="11274552" y="6473952"/>
            <a:ext cx="457200" cy="274320"/>
          </a:xfrm>
          <a:prstGeom prst="rect">
            <a:avLst/>
          </a:prstGeom>
          <a:noFill/>
          <a:ln/>
        </p:spPr>
        <p:txBody>
          <a:bodyPr wrap="square" rtlCol="0" anchor="ctr"/>
          <a:lstStyle/>
          <a:p>
            <a:pPr marL="0" indent="0" algn="r">
              <a:buNone/>
            </a:pPr>
            <a:r>
              <a:rPr lang="en-US" sz="1050" dirty="0">
                <a:solidFill>
                  <a:srgbClr val="45556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8233C"/>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548640"/>
          </a:xfrm>
          <a:prstGeom prst="rect">
            <a:avLst/>
          </a:prstGeom>
          <a:noFill/>
          <a:ln/>
        </p:spPr>
        <p:txBody>
          <a:bodyPr wrap="square" rtlCol="0" anchor="ctr"/>
          <a:lstStyle/>
          <a:p>
            <a:pPr marL="0" indent="0" algn="just">
              <a:buNone/>
            </a:pPr>
            <a:r>
              <a:rPr lang="en-US" sz="3600" b="1" dirty="0">
                <a:solidFill>
                  <a:srgbClr val="FFFFFF"/>
                </a:solidFill>
                <a:latin typeface="Cambria" pitchFamily="34" charset="0"/>
                <a:ea typeface="Cambria" pitchFamily="34" charset="-122"/>
                <a:cs typeface="Cambria" pitchFamily="34" charset="-120"/>
              </a:rPr>
              <a:t>Discussion &amp; Conclusion</a:t>
            </a:r>
            <a:endParaRPr lang="en-US" sz="3600" dirty="0"/>
          </a:p>
        </p:txBody>
      </p:sp>
      <p:sp>
        <p:nvSpPr>
          <p:cNvPr id="3" name="Shape 1"/>
          <p:cNvSpPr/>
          <p:nvPr/>
        </p:nvSpPr>
        <p:spPr>
          <a:xfrm>
            <a:off x="566928" y="1051560"/>
            <a:ext cx="2011680" cy="0"/>
          </a:xfrm>
          <a:prstGeom prst="line">
            <a:avLst/>
          </a:prstGeom>
          <a:noFill/>
          <a:ln w="12700">
            <a:solidFill>
              <a:srgbClr val="5B7B9C"/>
            </a:solidFill>
            <a:prstDash val="solid"/>
          </a:ln>
        </p:spPr>
        <p:txBody>
          <a:bodyPr/>
          <a:lstStyle/>
          <a:p>
            <a:pPr algn="just"/>
            <a:endParaRPr lang="en-US" sz="2400"/>
          </a:p>
        </p:txBody>
      </p:sp>
      <p:sp>
        <p:nvSpPr>
          <p:cNvPr id="4" name="Text 2"/>
          <p:cNvSpPr/>
          <p:nvPr/>
        </p:nvSpPr>
        <p:spPr>
          <a:xfrm>
            <a:off x="548640" y="1232844"/>
            <a:ext cx="5486400" cy="365760"/>
          </a:xfrm>
          <a:prstGeom prst="rect">
            <a:avLst/>
          </a:prstGeom>
          <a:noFill/>
          <a:ln/>
        </p:spPr>
        <p:txBody>
          <a:bodyPr wrap="square" rtlCol="0" anchor="ctr"/>
          <a:lstStyle/>
          <a:p>
            <a:pPr marL="0" indent="0" algn="just">
              <a:buNone/>
            </a:pPr>
            <a:r>
              <a:rPr lang="en-US" sz="2000" b="1" dirty="0">
                <a:solidFill>
                  <a:srgbClr val="E8912D"/>
                </a:solidFill>
                <a:latin typeface="Cambria" pitchFamily="34" charset="0"/>
                <a:ea typeface="Cambria" pitchFamily="34" charset="-122"/>
                <a:cs typeface="Cambria" pitchFamily="34" charset="-120"/>
              </a:rPr>
              <a:t>Key Findings</a:t>
            </a:r>
            <a:endParaRPr lang="en-US" sz="2000" dirty="0"/>
          </a:p>
        </p:txBody>
      </p:sp>
      <p:sp>
        <p:nvSpPr>
          <p:cNvPr id="5" name="Text 3"/>
          <p:cNvSpPr/>
          <p:nvPr/>
        </p:nvSpPr>
        <p:spPr>
          <a:xfrm>
            <a:off x="548640" y="1828800"/>
            <a:ext cx="5760720" cy="3017520"/>
          </a:xfrm>
          <a:prstGeom prst="rect">
            <a:avLst/>
          </a:prstGeom>
          <a:noFill/>
          <a:ln/>
        </p:spPr>
        <p:txBody>
          <a:bodyPr wrap="square" rtlCol="0" anchor="ctr"/>
          <a:lstStyle/>
          <a:p>
            <a:pPr marL="0" indent="0" algn="just">
              <a:lnSpc>
                <a:spcPct val="135000"/>
              </a:lnSpc>
              <a:buNone/>
            </a:pPr>
            <a:r>
              <a:rPr lang="en-US" sz="1600" dirty="0">
                <a:solidFill>
                  <a:srgbClr val="AFC3D6"/>
                </a:solidFill>
                <a:latin typeface="Calibri" pitchFamily="34" charset="0"/>
                <a:ea typeface="Calibri" pitchFamily="34" charset="-122"/>
                <a:cs typeface="Calibri" pitchFamily="34" charset="-120"/>
              </a:rPr>
              <a:t>• Reactions: R_Ay = 150 N (down), R_Cy = 150 N (up), R_Cx = 300 N (left)
</a:t>
            </a:r>
            <a:endParaRPr lang="en-US" sz="1600" dirty="0"/>
          </a:p>
          <a:p>
            <a:pPr marL="0" indent="0" algn="just">
              <a:lnSpc>
                <a:spcPct val="135000"/>
              </a:lnSpc>
              <a:buNone/>
            </a:pPr>
            <a:r>
              <a:rPr lang="en-US" sz="1600" dirty="0">
                <a:solidFill>
                  <a:srgbClr val="AFC3D6"/>
                </a:solidFill>
                <a:latin typeface="Calibri" pitchFamily="34" charset="0"/>
                <a:ea typeface="Calibri" pitchFamily="34" charset="-122"/>
                <a:cs typeface="Calibri" pitchFamily="34" charset="-120"/>
              </a:rPr>
              <a:t>• Tension members: AD = 212.13 N, BC = 150 N
</a:t>
            </a:r>
            <a:endParaRPr lang="en-US" sz="1600" dirty="0"/>
          </a:p>
          <a:p>
            <a:pPr marL="0" indent="0" algn="just">
              <a:lnSpc>
                <a:spcPct val="135000"/>
              </a:lnSpc>
              <a:buNone/>
            </a:pPr>
            <a:r>
              <a:rPr lang="en-US" sz="1600" dirty="0">
                <a:solidFill>
                  <a:srgbClr val="AFC3D6"/>
                </a:solidFill>
                <a:latin typeface="Calibri" pitchFamily="34" charset="0"/>
                <a:ea typeface="Calibri" pitchFamily="34" charset="-122"/>
                <a:cs typeface="Calibri" pitchFamily="34" charset="-120"/>
              </a:rPr>
              <a:t>• Compression members: AB = 150 N, CD = 212.13 N
</a:t>
            </a:r>
            <a:endParaRPr lang="en-US" sz="1600" dirty="0"/>
          </a:p>
          <a:p>
            <a:pPr marL="0" indent="0" algn="just">
              <a:lnSpc>
                <a:spcPct val="135000"/>
              </a:lnSpc>
              <a:buNone/>
            </a:pPr>
            <a:r>
              <a:rPr lang="en-US" sz="1600" dirty="0">
                <a:solidFill>
                  <a:srgbClr val="AFC3D6"/>
                </a:solidFill>
                <a:latin typeface="Calibri" pitchFamily="34" charset="0"/>
                <a:ea typeface="Calibri" pitchFamily="34" charset="-122"/>
                <a:cs typeface="Calibri" pitchFamily="34" charset="-120"/>
              </a:rPr>
              <a:t>• BD is a zero-force member under this loading
</a:t>
            </a:r>
            <a:endParaRPr lang="en-US" sz="1600" dirty="0"/>
          </a:p>
          <a:p>
            <a:pPr marL="0" indent="0" algn="just">
              <a:lnSpc>
                <a:spcPct val="135000"/>
              </a:lnSpc>
              <a:buNone/>
            </a:pPr>
            <a:r>
              <a:rPr lang="en-US" sz="1600" dirty="0">
                <a:solidFill>
                  <a:srgbClr val="AFC3D6"/>
                </a:solidFill>
                <a:latin typeface="Calibri" pitchFamily="34" charset="0"/>
                <a:ea typeface="Calibri" pitchFamily="34" charset="-122"/>
                <a:cs typeface="Calibri" pitchFamily="34" charset="-120"/>
              </a:rPr>
              <a:t>• ANSYS confirmed max/min axial forces of ±212.13 N, matching hand calculations exactly</a:t>
            </a:r>
            <a:endParaRPr lang="en-US" sz="1600" dirty="0"/>
          </a:p>
        </p:txBody>
      </p:sp>
      <p:sp>
        <p:nvSpPr>
          <p:cNvPr id="6" name="Shape 4"/>
          <p:cNvSpPr/>
          <p:nvPr/>
        </p:nvSpPr>
        <p:spPr>
          <a:xfrm>
            <a:off x="6675120" y="1371600"/>
            <a:ext cx="4937760" cy="4114800"/>
          </a:xfrm>
          <a:prstGeom prst="roundRect">
            <a:avLst>
              <a:gd name="adj" fmla="val 1778"/>
            </a:avLst>
          </a:prstGeom>
          <a:solidFill>
            <a:srgbClr val="22335A"/>
          </a:solidFill>
          <a:ln w="12700">
            <a:solidFill>
              <a:srgbClr val="5B7B9C"/>
            </a:solidFill>
            <a:prstDash val="solid"/>
          </a:ln>
        </p:spPr>
        <p:txBody>
          <a:bodyPr/>
          <a:lstStyle/>
          <a:p>
            <a:pPr algn="just"/>
            <a:endParaRPr lang="en-US" sz="2400"/>
          </a:p>
        </p:txBody>
      </p:sp>
      <p:sp>
        <p:nvSpPr>
          <p:cNvPr id="7" name="Text 5"/>
          <p:cNvSpPr/>
          <p:nvPr/>
        </p:nvSpPr>
        <p:spPr>
          <a:xfrm>
            <a:off x="6949440" y="1554480"/>
            <a:ext cx="4389120" cy="365760"/>
          </a:xfrm>
          <a:prstGeom prst="rect">
            <a:avLst/>
          </a:prstGeom>
          <a:noFill/>
          <a:ln/>
        </p:spPr>
        <p:txBody>
          <a:bodyPr wrap="square" rtlCol="0" anchor="ctr"/>
          <a:lstStyle/>
          <a:p>
            <a:pPr marL="0" indent="0" algn="just">
              <a:buNone/>
            </a:pPr>
            <a:r>
              <a:rPr lang="en-US" sz="2000" b="1" dirty="0">
                <a:solidFill>
                  <a:srgbClr val="E8912D"/>
                </a:solidFill>
                <a:latin typeface="Cambria" pitchFamily="34" charset="0"/>
                <a:ea typeface="Cambria" pitchFamily="34" charset="-122"/>
                <a:cs typeface="Cambria" pitchFamily="34" charset="-120"/>
              </a:rPr>
              <a:t>Conclusion</a:t>
            </a:r>
            <a:endParaRPr lang="en-US" sz="2000" dirty="0"/>
          </a:p>
        </p:txBody>
      </p:sp>
      <p:sp>
        <p:nvSpPr>
          <p:cNvPr id="8" name="Text 6"/>
          <p:cNvSpPr/>
          <p:nvPr/>
        </p:nvSpPr>
        <p:spPr>
          <a:xfrm>
            <a:off x="6949440" y="2011680"/>
            <a:ext cx="4389120" cy="1828800"/>
          </a:xfrm>
          <a:prstGeom prst="rect">
            <a:avLst/>
          </a:prstGeom>
          <a:noFill/>
          <a:ln/>
        </p:spPr>
        <p:txBody>
          <a:bodyPr wrap="square" rtlCol="0" anchor="ctr"/>
          <a:lstStyle/>
          <a:p>
            <a:pPr marL="0" indent="0" algn="just">
              <a:lnSpc>
                <a:spcPct val="135000"/>
              </a:lnSpc>
              <a:buNone/>
            </a:pPr>
            <a:r>
              <a:rPr lang="en-US" sz="1600" dirty="0">
                <a:solidFill>
                  <a:srgbClr val="FFFFFF"/>
                </a:solidFill>
                <a:latin typeface="Calibri" pitchFamily="34" charset="0"/>
                <a:ea typeface="Calibri" pitchFamily="34" charset="-122"/>
                <a:cs typeface="Calibri" pitchFamily="34" charset="-120"/>
              </a:rPr>
              <a:t>The truss was analyzed for internal member forces and support reactions using the Method of Joints, then verified through ANSYS simulation. Both approaches produced matching values, confirming the analysis was correct and demonstrating a practical link between classical statics and finite element verification.</a:t>
            </a:r>
            <a:endParaRPr lang="en-US" sz="1600" dirty="0"/>
          </a:p>
        </p:txBody>
      </p:sp>
      <p:sp>
        <p:nvSpPr>
          <p:cNvPr id="9" name="Shape 7"/>
          <p:cNvSpPr/>
          <p:nvPr/>
        </p:nvSpPr>
        <p:spPr>
          <a:xfrm>
            <a:off x="6949440" y="3977640"/>
            <a:ext cx="4114800" cy="0"/>
          </a:xfrm>
          <a:prstGeom prst="line">
            <a:avLst/>
          </a:prstGeom>
          <a:noFill/>
          <a:ln w="9525">
            <a:solidFill>
              <a:srgbClr val="5B7B9C"/>
            </a:solidFill>
            <a:prstDash val="solid"/>
          </a:ln>
        </p:spPr>
        <p:txBody>
          <a:bodyPr/>
          <a:lstStyle/>
          <a:p>
            <a:pPr algn="just"/>
            <a:endParaRPr lang="en-US" sz="2400"/>
          </a:p>
        </p:txBody>
      </p:sp>
      <p:sp>
        <p:nvSpPr>
          <p:cNvPr id="10" name="Text 8"/>
          <p:cNvSpPr/>
          <p:nvPr/>
        </p:nvSpPr>
        <p:spPr>
          <a:xfrm>
            <a:off x="6949440" y="4114800"/>
            <a:ext cx="4389120" cy="320040"/>
          </a:xfrm>
          <a:prstGeom prst="rect">
            <a:avLst/>
          </a:prstGeom>
          <a:noFill/>
          <a:ln/>
        </p:spPr>
        <p:txBody>
          <a:bodyPr wrap="square" rtlCol="0" anchor="ctr"/>
          <a:lstStyle/>
          <a:p>
            <a:pPr marL="0" indent="0" algn="just">
              <a:buNone/>
            </a:pPr>
            <a:r>
              <a:rPr lang="en-US" sz="1600" b="1" dirty="0">
                <a:solidFill>
                  <a:srgbClr val="E8912D"/>
                </a:solidFill>
                <a:latin typeface="Cambria" pitchFamily="34" charset="0"/>
                <a:ea typeface="Cambria" pitchFamily="34" charset="-122"/>
                <a:cs typeface="Cambria" pitchFamily="34" charset="-120"/>
              </a:rPr>
              <a:t>References</a:t>
            </a:r>
            <a:endParaRPr lang="en-US" sz="1600" dirty="0"/>
          </a:p>
        </p:txBody>
      </p:sp>
      <p:sp>
        <p:nvSpPr>
          <p:cNvPr id="11" name="Text 9"/>
          <p:cNvSpPr/>
          <p:nvPr/>
        </p:nvSpPr>
        <p:spPr>
          <a:xfrm>
            <a:off x="6949440" y="4480560"/>
            <a:ext cx="4389120" cy="822960"/>
          </a:xfrm>
          <a:prstGeom prst="rect">
            <a:avLst/>
          </a:prstGeom>
          <a:noFill/>
          <a:ln/>
        </p:spPr>
        <p:txBody>
          <a:bodyPr wrap="square" rtlCol="0" anchor="ctr"/>
          <a:lstStyle/>
          <a:p>
            <a:pPr marL="0" indent="0" algn="just">
              <a:lnSpc>
                <a:spcPct val="130000"/>
              </a:lnSpc>
              <a:buNone/>
            </a:pPr>
            <a:r>
              <a:rPr lang="en-US" sz="1400" dirty="0">
                <a:solidFill>
                  <a:srgbClr val="AFC3D6"/>
                </a:solidFill>
                <a:latin typeface="Calibri" pitchFamily="34" charset="0"/>
                <a:ea typeface="Calibri" pitchFamily="34" charset="-122"/>
                <a:cs typeface="Calibri" pitchFamily="34" charset="-120"/>
              </a:rPr>
              <a:t>1. Hibbeler, R. C. Engineering Mechanics: Statics, 14th Ed., Pearson, 2016.</a:t>
            </a:r>
            <a:endParaRPr lang="en-US" sz="1400" dirty="0"/>
          </a:p>
          <a:p>
            <a:pPr marL="0" indent="0" algn="just">
              <a:lnSpc>
                <a:spcPct val="130000"/>
              </a:lnSpc>
              <a:buNone/>
            </a:pPr>
            <a:r>
              <a:rPr lang="en-US" sz="1400" dirty="0">
                <a:solidFill>
                  <a:srgbClr val="AFC3D6"/>
                </a:solidFill>
                <a:latin typeface="Calibri" pitchFamily="34" charset="0"/>
                <a:ea typeface="Calibri" pitchFamily="34" charset="-122"/>
                <a:cs typeface="Calibri" pitchFamily="34" charset="-120"/>
              </a:rPr>
              <a:t>2. ANSYS Workbench Documentation, 2025.</a:t>
            </a:r>
            <a:endParaRPr lang="en-US" sz="1400" dirty="0"/>
          </a:p>
        </p:txBody>
      </p:sp>
      <p:sp>
        <p:nvSpPr>
          <p:cNvPr id="12" name="Text 10"/>
          <p:cNvSpPr/>
          <p:nvPr/>
        </p:nvSpPr>
        <p:spPr>
          <a:xfrm>
            <a:off x="457200" y="6473952"/>
            <a:ext cx="5486400" cy="274320"/>
          </a:xfrm>
          <a:prstGeom prst="rect">
            <a:avLst/>
          </a:prstGeom>
          <a:noFill/>
          <a:ln/>
        </p:spPr>
        <p:txBody>
          <a:bodyPr wrap="square" rtlCol="0" anchor="ctr"/>
          <a:lstStyle/>
          <a:p>
            <a:pPr marL="0" indent="0" algn="just">
              <a:buNone/>
            </a:pPr>
            <a:r>
              <a:rPr lang="en-US" sz="1100" dirty="0">
                <a:solidFill>
                  <a:srgbClr val="AFC3D6"/>
                </a:solidFill>
                <a:latin typeface="Calibri" pitchFamily="34" charset="0"/>
                <a:ea typeface="Calibri" pitchFamily="34" charset="-122"/>
                <a:cs typeface="Calibri" pitchFamily="34" charset="-120"/>
              </a:rPr>
              <a:t>Frais Asghar  |  NUST · SMME</a:t>
            </a:r>
            <a:endParaRPr lang="en-US" sz="11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just">
              <a:buNone/>
            </a:pPr>
            <a:r>
              <a:rPr lang="en-US" sz="1050" dirty="0">
                <a:solidFill>
                  <a:srgbClr val="AFC3D6"/>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1077</Words>
  <Application>Microsoft Office PowerPoint</Application>
  <PresentationFormat>Widescreen</PresentationFormat>
  <Paragraphs>183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Frais Asghar</cp:lastModifiedBy>
  <cp:revision>6</cp:revision>
  <dcterms:created xsi:type="dcterms:W3CDTF">2026-07-27T17:35:08Z</dcterms:created>
  <dcterms:modified xsi:type="dcterms:W3CDTF">2026-07-31T18:00:37Z</dcterms:modified>
</cp:coreProperties>
</file>